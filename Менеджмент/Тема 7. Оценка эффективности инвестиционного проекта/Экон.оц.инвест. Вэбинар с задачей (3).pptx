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63"/>
  </p:notesMasterIdLst>
  <p:handoutMasterIdLst>
    <p:handoutMasterId r:id="rId64"/>
  </p:handoutMasterIdLst>
  <p:sldIdLst>
    <p:sldId id="429" r:id="rId2"/>
    <p:sldId id="421" r:id="rId3"/>
    <p:sldId id="430" r:id="rId4"/>
    <p:sldId id="372" r:id="rId5"/>
    <p:sldId id="432" r:id="rId6"/>
    <p:sldId id="444" r:id="rId7"/>
    <p:sldId id="445" r:id="rId8"/>
    <p:sldId id="443" r:id="rId9"/>
    <p:sldId id="464" r:id="rId10"/>
    <p:sldId id="456" r:id="rId11"/>
    <p:sldId id="457" r:id="rId12"/>
    <p:sldId id="465" r:id="rId13"/>
    <p:sldId id="463" r:id="rId14"/>
    <p:sldId id="258" r:id="rId15"/>
    <p:sldId id="260" r:id="rId16"/>
    <p:sldId id="261" r:id="rId17"/>
    <p:sldId id="262" r:id="rId18"/>
    <p:sldId id="269" r:id="rId19"/>
    <p:sldId id="268" r:id="rId20"/>
    <p:sldId id="263" r:id="rId21"/>
    <p:sldId id="264" r:id="rId22"/>
    <p:sldId id="265" r:id="rId23"/>
    <p:sldId id="266" r:id="rId24"/>
    <p:sldId id="376" r:id="rId25"/>
    <p:sldId id="259" r:id="rId26"/>
    <p:sldId id="270" r:id="rId27"/>
    <p:sldId id="271" r:id="rId28"/>
    <p:sldId id="272" r:id="rId29"/>
    <p:sldId id="273" r:id="rId30"/>
    <p:sldId id="452" r:id="rId31"/>
    <p:sldId id="274" r:id="rId32"/>
    <p:sldId id="378" r:id="rId33"/>
    <p:sldId id="458" r:id="rId34"/>
    <p:sldId id="460" r:id="rId35"/>
    <p:sldId id="459" r:id="rId36"/>
    <p:sldId id="453" r:id="rId37"/>
    <p:sldId id="379" r:id="rId38"/>
    <p:sldId id="380" r:id="rId39"/>
    <p:sldId id="381" r:id="rId40"/>
    <p:sldId id="382" r:id="rId41"/>
    <p:sldId id="383" r:id="rId42"/>
    <p:sldId id="384" r:id="rId43"/>
    <p:sldId id="385" r:id="rId44"/>
    <p:sldId id="450" r:id="rId45"/>
    <p:sldId id="276" r:id="rId46"/>
    <p:sldId id="277" r:id="rId47"/>
    <p:sldId id="282" r:id="rId48"/>
    <p:sldId id="462" r:id="rId49"/>
    <p:sldId id="283" r:id="rId50"/>
    <p:sldId id="466" r:id="rId51"/>
    <p:sldId id="467" r:id="rId52"/>
    <p:sldId id="468" r:id="rId53"/>
    <p:sldId id="469" r:id="rId54"/>
    <p:sldId id="471" r:id="rId55"/>
    <p:sldId id="472" r:id="rId56"/>
    <p:sldId id="473" r:id="rId57"/>
    <p:sldId id="474" r:id="rId58"/>
    <p:sldId id="475" r:id="rId59"/>
    <p:sldId id="476" r:id="rId60"/>
    <p:sldId id="477" r:id="rId61"/>
    <p:sldId id="478" r:id="rId62"/>
  </p:sldIdLst>
  <p:sldSz cx="9144000" cy="6858000" type="screen4x3"/>
  <p:notesSz cx="6797675" cy="9926638"/>
  <p:defaultTextStyle>
    <a:defPPr>
      <a:defRPr lang="ru-RU"/>
    </a:defPPr>
    <a:lvl1pPr algn="l" rtl="0" eaLnBrk="0" fontAlgn="base" hangingPunct="0">
      <a:spcBef>
        <a:spcPct val="50000"/>
      </a:spcBef>
      <a:spcAft>
        <a:spcPct val="0"/>
      </a:spcAft>
      <a:defRPr sz="3600" b="1" i="1" kern="1200">
        <a:solidFill>
          <a:srgbClr val="0000CC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50000"/>
      </a:spcBef>
      <a:spcAft>
        <a:spcPct val="0"/>
      </a:spcAft>
      <a:defRPr sz="3600" b="1" i="1" kern="1200">
        <a:solidFill>
          <a:srgbClr val="0000CC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50000"/>
      </a:spcBef>
      <a:spcAft>
        <a:spcPct val="0"/>
      </a:spcAft>
      <a:defRPr sz="3600" b="1" i="1" kern="1200">
        <a:solidFill>
          <a:srgbClr val="0000CC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50000"/>
      </a:spcBef>
      <a:spcAft>
        <a:spcPct val="0"/>
      </a:spcAft>
      <a:defRPr sz="3600" b="1" i="1" kern="1200">
        <a:solidFill>
          <a:srgbClr val="0000CC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50000"/>
      </a:spcBef>
      <a:spcAft>
        <a:spcPct val="0"/>
      </a:spcAft>
      <a:defRPr sz="3600" b="1" i="1" kern="1200">
        <a:solidFill>
          <a:srgbClr val="0000CC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3600" b="1" i="1" kern="1200">
        <a:solidFill>
          <a:srgbClr val="0000CC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3600" b="1" i="1" kern="1200">
        <a:solidFill>
          <a:srgbClr val="0000CC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3600" b="1" i="1" kern="1200">
        <a:solidFill>
          <a:srgbClr val="0000CC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3600" b="1" i="1" kern="1200">
        <a:solidFill>
          <a:srgbClr val="0000CC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990099"/>
    <a:srgbClr val="800000"/>
    <a:srgbClr val="FF0066"/>
    <a:srgbClr val="33CC33"/>
    <a:srgbClr val="0033CC"/>
    <a:srgbClr val="009900"/>
    <a:srgbClr val="E6E6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14" autoAdjust="0"/>
    <p:restoredTop sz="98113" autoAdjust="0"/>
  </p:normalViewPr>
  <p:slideViewPr>
    <p:cSldViewPr>
      <p:cViewPr varScale="1">
        <p:scale>
          <a:sx n="42" d="100"/>
          <a:sy n="42" d="100"/>
        </p:scale>
        <p:origin x="868" y="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83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4" Type="http://schemas.openxmlformats.org/officeDocument/2006/relationships/image" Target="../media/image23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8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8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D0BB95B9-5CD7-479E-990E-2085E5F5913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88738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406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895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34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1700" y="762000"/>
            <a:ext cx="4978400" cy="3733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06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724400"/>
            <a:ext cx="49530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2406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8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406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448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4E053B77-122C-436A-8F8C-D4CD0B284F0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96625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spcBef>
                  <a:spcPct val="0"/>
                </a:spcBef>
                <a:defRPr/>
              </a:pPr>
              <a:endParaRPr lang="ru-RU" sz="2400" b="0" i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spcBef>
                  <a:spcPct val="0"/>
                </a:spcBef>
                <a:defRPr/>
              </a:pPr>
              <a:endParaRPr lang="ru-RU" sz="2400" b="0" i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>
                  <a:spcBef>
                    <a:spcPct val="0"/>
                  </a:spcBef>
                  <a:defRPr/>
                </a:pPr>
                <a:endParaRPr lang="ru-RU" sz="2400" b="0" i="0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>
                  <a:spcBef>
                    <a:spcPct val="0"/>
                  </a:spcBef>
                  <a:defRPr/>
                </a:pPr>
                <a:endParaRPr lang="ru-RU" sz="2400" b="0" i="0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>
                  <a:spcBef>
                    <a:spcPct val="0"/>
                  </a:spcBef>
                  <a:defRPr/>
                </a:pPr>
                <a:endParaRPr lang="ru-RU" sz="2400" b="0" i="0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>
                  <a:spcBef>
                    <a:spcPct val="0"/>
                  </a:spcBef>
                  <a:defRPr/>
                </a:pPr>
                <a:endParaRPr lang="ru-RU" sz="2400" b="0" i="0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>
                  <a:spcBef>
                    <a:spcPct val="0"/>
                  </a:spcBef>
                  <a:defRPr/>
                </a:pPr>
                <a:endParaRPr lang="ru-RU" sz="2400" b="0" i="0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>
                  <a:spcBef>
                    <a:spcPct val="0"/>
                  </a:spcBef>
                  <a:defRPr/>
                </a:pPr>
                <a:endParaRPr lang="ru-RU" sz="2400" b="0" i="0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>
                  <a:spcBef>
                    <a:spcPct val="0"/>
                  </a:spcBef>
                  <a:defRPr/>
                </a:pPr>
                <a:endParaRPr lang="ru-RU" sz="2400" b="0" i="0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>
                  <a:spcBef>
                    <a:spcPct val="0"/>
                  </a:spcBef>
                  <a:defRPr/>
                </a:pPr>
                <a:endParaRPr lang="ru-RU" sz="2400" b="0" i="0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>
                  <a:spcBef>
                    <a:spcPct val="0"/>
                  </a:spcBef>
                  <a:defRPr/>
                </a:pPr>
                <a:endParaRPr lang="ru-RU" sz="2400" b="0" i="0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>
                  <a:spcBef>
                    <a:spcPct val="0"/>
                  </a:spcBef>
                  <a:defRPr/>
                </a:pPr>
                <a:endParaRPr lang="ru-RU" sz="2400" b="0" i="0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</p:grpSp>
      </p:grpSp>
      <p:sp>
        <p:nvSpPr>
          <p:cNvPr id="59411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59412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05468CE-B9FB-4AD0-BE25-935A4B64517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med">
    <p:strips dir="r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BB6099-99DF-4A7E-8864-807F36494F5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  <p:transition spd="med">
    <p:strips dir="r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1FD54D-7E99-4788-BE50-ED568F1058F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  <p:transition spd="med">
    <p:strips dir="r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47045-ED3C-4B2B-AA6C-4C305DDCEEF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  <p:transition spd="med">
    <p:strips dir="r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17BD01-CE2B-4C26-B81D-15AE27A23D8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  <p:transition spd="med">
    <p:strips dir="r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E6640A-9A4F-4DB8-9FD0-1238309A894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  <p:transition spd="med">
    <p:strips dir="r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9F746A-333C-4CA7-8552-1981070E669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  <p:transition spd="med">
    <p:strips dir="r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6AECE3-6EBD-4009-93A0-2FF4C21B980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  <p:transition spd="med">
    <p:strips dir="r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C91649-8761-4A06-8C1A-AA307AF29B9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  <p:transition spd="med">
    <p:strips dir="r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BD163-35B4-4D92-B5C5-26B29059FCA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  <p:transition spd="med">
    <p:strips dir="r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7F52AD-DA3A-4B6A-98A9-3339C223CBF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  <p:transition spd="med">
    <p:strips dir="r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ru-RU" noProof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93C36B-6BBD-47D4-A8A8-A90B3E3B655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  <p:transition spd="med">
    <p:strips dir="r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B8A72-5509-4A4F-929A-ABC00EE596C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  <p:transition spd="med">
    <p:strips dir="r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Заголовок, 1 большой объект и 2 маленьких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Содержимое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2EE696-AB21-4909-8598-10CE9BCE12B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  <p:transition spd="med">
    <p:strips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200" b="0" i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 b="0" i="0" smtClean="0">
                <a:solidFill>
                  <a:schemeClr val="tx1"/>
                </a:solidFill>
                <a:latin typeface="Arial Black" pitchFamily="34" charset="0"/>
              </a:defRPr>
            </a:lvl1pPr>
          </a:lstStyle>
          <a:p>
            <a:pPr>
              <a:defRPr/>
            </a:pPr>
            <a:fld id="{19553760-2535-488A-BA54-D7DD00FFFC8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grpSp>
        <p:nvGrpSpPr>
          <p:cNvPr id="39940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58373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spcBef>
                  <a:spcPct val="0"/>
                </a:spcBef>
                <a:defRPr/>
              </a:pPr>
              <a:endParaRPr lang="ru-RU" sz="2400" b="0" i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58374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spcBef>
                  <a:spcPct val="0"/>
                </a:spcBef>
                <a:defRPr/>
              </a:pPr>
              <a:endParaRPr lang="ru-RU" sz="2400" b="0" i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58375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spcBef>
                  <a:spcPct val="0"/>
                </a:spcBef>
                <a:defRPr/>
              </a:pPr>
              <a:endParaRPr lang="ru-RU" sz="1800" b="0" i="0">
                <a:solidFill>
                  <a:schemeClr val="hlink"/>
                </a:solidFill>
              </a:endParaRPr>
            </a:p>
          </p:txBody>
        </p:sp>
        <p:sp>
          <p:nvSpPr>
            <p:cNvPr id="58376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spcBef>
                  <a:spcPct val="0"/>
                </a:spcBef>
                <a:defRPr/>
              </a:pPr>
              <a:endParaRPr lang="ru-RU" sz="1800" b="0" i="0">
                <a:solidFill>
                  <a:schemeClr val="hlink"/>
                </a:solidFill>
              </a:endParaRPr>
            </a:p>
          </p:txBody>
        </p:sp>
        <p:sp>
          <p:nvSpPr>
            <p:cNvPr id="58377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spcBef>
                  <a:spcPct val="0"/>
                </a:spcBef>
                <a:defRPr/>
              </a:pPr>
              <a:endParaRPr lang="ru-RU" sz="1800" b="0" i="0">
                <a:solidFill>
                  <a:schemeClr val="accent2"/>
                </a:solidFill>
              </a:endParaRPr>
            </a:p>
          </p:txBody>
        </p:sp>
        <p:sp>
          <p:nvSpPr>
            <p:cNvPr id="58378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spcBef>
                  <a:spcPct val="0"/>
                </a:spcBef>
                <a:defRPr/>
              </a:pPr>
              <a:endParaRPr lang="ru-RU" sz="1800" b="0" i="0">
                <a:solidFill>
                  <a:schemeClr val="hlink"/>
                </a:solidFill>
              </a:endParaRPr>
            </a:p>
          </p:txBody>
        </p:sp>
        <p:sp>
          <p:nvSpPr>
            <p:cNvPr id="58379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spcBef>
                  <a:spcPct val="0"/>
                </a:spcBef>
                <a:defRPr/>
              </a:pPr>
              <a:endParaRPr lang="ru-RU" sz="2400" b="0" i="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58380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spcBef>
                  <a:spcPct val="0"/>
                </a:spcBef>
                <a:defRPr/>
              </a:pPr>
              <a:endParaRPr lang="ru-RU" sz="1800" b="0" i="0">
                <a:solidFill>
                  <a:schemeClr val="accent2"/>
                </a:solidFill>
              </a:endParaRPr>
            </a:p>
          </p:txBody>
        </p:sp>
        <p:sp>
          <p:nvSpPr>
            <p:cNvPr id="58381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spcBef>
                  <a:spcPct val="0"/>
                </a:spcBef>
                <a:defRPr/>
              </a:pPr>
              <a:endParaRPr lang="ru-RU" sz="1800" b="0" i="0">
                <a:solidFill>
                  <a:schemeClr val="accent2"/>
                </a:solidFill>
              </a:endParaRPr>
            </a:p>
          </p:txBody>
        </p:sp>
      </p:grpSp>
      <p:sp>
        <p:nvSpPr>
          <p:cNvPr id="39941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39942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58384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 b="0" i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7" r:id="rId2"/>
    <p:sldLayoutId id="2147483716" r:id="rId3"/>
    <p:sldLayoutId id="2147483715" r:id="rId4"/>
    <p:sldLayoutId id="2147483714" r:id="rId5"/>
    <p:sldLayoutId id="2147483713" r:id="rId6"/>
    <p:sldLayoutId id="2147483712" r:id="rId7"/>
    <p:sldLayoutId id="2147483711" r:id="rId8"/>
    <p:sldLayoutId id="2147483710" r:id="rId9"/>
    <p:sldLayoutId id="2147483709" r:id="rId10"/>
    <p:sldLayoutId id="2147483708" r:id="rId11"/>
    <p:sldLayoutId id="2147483707" r:id="rId12"/>
    <p:sldLayoutId id="2147483706" r:id="rId13"/>
    <p:sldLayoutId id="2147483705" r:id="rId14"/>
  </p:sldLayoutIdLst>
  <p:transition spd="med">
    <p:strips dir="rd"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6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7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0.e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1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4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6.w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7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8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19.w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21.bin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8.emf"/><Relationship Id="rId4" Type="http://schemas.openxmlformats.org/officeDocument/2006/relationships/package" Target="../embeddings/_________Microsoft_Word1.docx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29.emf"/><Relationship Id="rId4" Type="http://schemas.openxmlformats.org/officeDocument/2006/relationships/package" Target="../embeddings/_________Microsoft_Word2.docx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30.emf"/><Relationship Id="rId4" Type="http://schemas.openxmlformats.org/officeDocument/2006/relationships/package" Target="../embeddings/_________Microsoft_Word3.docx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31.emf"/><Relationship Id="rId4" Type="http://schemas.openxmlformats.org/officeDocument/2006/relationships/package" Target="../embeddings/_________Microsoft_Word4.docx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1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229600" cy="1371600"/>
          </a:xfrm>
        </p:spPr>
        <p:txBody>
          <a:bodyPr/>
          <a:lstStyle/>
          <a:p>
            <a:pPr algn="ctr"/>
            <a:r>
              <a:rPr lang="ru-RU" b="1" dirty="0" smtClean="0">
                <a:solidFill>
                  <a:srgbClr val="FF3300"/>
                </a:solidFill>
                <a:latin typeface="Arial Black" pitchFamily="34" charset="0"/>
              </a:rPr>
              <a:t/>
            </a:r>
            <a:br>
              <a:rPr lang="ru-RU" b="1" dirty="0" smtClean="0">
                <a:solidFill>
                  <a:srgbClr val="FF3300"/>
                </a:solidFill>
                <a:latin typeface="Arial Black" pitchFamily="34" charset="0"/>
              </a:rPr>
            </a:br>
            <a:r>
              <a:rPr lang="ru-RU" b="1" dirty="0">
                <a:solidFill>
                  <a:srgbClr val="FF3300"/>
                </a:solidFill>
                <a:latin typeface="Arial Black" pitchFamily="34" charset="0"/>
              </a:rPr>
              <a:t>О</a:t>
            </a:r>
            <a:r>
              <a:rPr lang="ru-RU" b="1" dirty="0" smtClean="0">
                <a:solidFill>
                  <a:srgbClr val="FF3300"/>
                </a:solidFill>
                <a:latin typeface="Arial Black" pitchFamily="34" charset="0"/>
              </a:rPr>
              <a:t>ценка экономической эффективности инвестиционных проектов</a:t>
            </a:r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3789040"/>
            <a:ext cx="7829576" cy="3886200"/>
          </a:xfrm>
        </p:spPr>
        <p:txBody>
          <a:bodyPr/>
          <a:lstStyle/>
          <a:p>
            <a:pPr marL="609600" indent="-609600">
              <a:buClr>
                <a:srgbClr val="0033CC"/>
              </a:buClr>
              <a:buSzPct val="90000"/>
              <a:buFont typeface="Wingdings" pitchFamily="2" charset="2"/>
              <a:buNone/>
            </a:pPr>
            <a:endParaRPr lang="ru-RU" sz="2800" b="1" dirty="0" smtClean="0">
              <a:solidFill>
                <a:schemeClr val="bg2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ransition spd="med">
    <p:strips dir="r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5"/>
          <p:cNvSpPr>
            <a:spLocks noChangeArrowheads="1"/>
          </p:cNvSpPr>
          <p:nvPr/>
        </p:nvSpPr>
        <p:spPr bwMode="auto">
          <a:xfrm>
            <a:off x="304800" y="1925588"/>
            <a:ext cx="86106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ru-RU" i="0" dirty="0">
                <a:solidFill>
                  <a:srgbClr val="FF3300"/>
                </a:solidFill>
                <a:latin typeface="Arial Black" pitchFamily="34" charset="0"/>
              </a:rPr>
              <a:t>Инвестиционный проект</a:t>
            </a:r>
            <a:r>
              <a:rPr lang="ru-RU" i="0" dirty="0">
                <a:latin typeface="Arial Black" pitchFamily="34" charset="0"/>
              </a:rPr>
              <a:t> </a:t>
            </a:r>
            <a:r>
              <a:rPr lang="ru-RU" i="0" dirty="0">
                <a:solidFill>
                  <a:schemeClr val="bg2"/>
                </a:solidFill>
                <a:latin typeface="Arial Black" pitchFamily="34" charset="0"/>
              </a:rPr>
              <a:t>– это план вложения капитала в целях получения </a:t>
            </a:r>
            <a:r>
              <a:rPr lang="ru-RU" i="0" dirty="0" smtClean="0">
                <a:solidFill>
                  <a:schemeClr val="bg2"/>
                </a:solidFill>
                <a:latin typeface="Arial Black" pitchFamily="34" charset="0"/>
              </a:rPr>
              <a:t>желаемого результата</a:t>
            </a:r>
            <a:r>
              <a:rPr lang="ru-RU" b="0" i="0" dirty="0" smtClean="0">
                <a:solidFill>
                  <a:schemeClr val="bg2"/>
                </a:solidFill>
                <a:latin typeface="Arial Black" pitchFamily="34" charset="0"/>
              </a:rPr>
              <a:t>.</a:t>
            </a:r>
            <a:r>
              <a:rPr lang="ru-RU" sz="3200" b="0" i="0" dirty="0" smtClean="0">
                <a:latin typeface="Arial Black" pitchFamily="34" charset="0"/>
              </a:rPr>
              <a:t> </a:t>
            </a:r>
            <a:endParaRPr lang="ru-RU" sz="3200" b="0" i="0" dirty="0">
              <a:latin typeface="Arial Black" pitchFamily="34" charset="0"/>
            </a:endParaRPr>
          </a:p>
        </p:txBody>
      </p:sp>
    </p:spTree>
  </p:cSld>
  <p:clrMapOvr>
    <a:masterClrMapping/>
  </p:clrMapOvr>
  <p:transition spd="med">
    <p:strips dir="r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4" name="Rectangle 7"/>
          <p:cNvSpPr>
            <a:spLocks noChangeArrowheads="1"/>
          </p:cNvSpPr>
          <p:nvPr/>
        </p:nvSpPr>
        <p:spPr bwMode="auto">
          <a:xfrm>
            <a:off x="228600" y="708025"/>
            <a:ext cx="8915400" cy="155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>
              <a:spcBef>
                <a:spcPct val="0"/>
              </a:spcBef>
            </a:pPr>
            <a:r>
              <a:rPr lang="ru-RU" sz="3200" b="0" i="0">
                <a:solidFill>
                  <a:srgbClr val="FF3300"/>
                </a:solidFill>
                <a:latin typeface="Arial Black" pitchFamily="34" charset="0"/>
              </a:rPr>
              <a:t>ФЗ «Об инвестиц. деятельности в РФ, осуществляемой в форме капитальных вложений»:</a:t>
            </a:r>
          </a:p>
        </p:txBody>
      </p:sp>
      <p:sp>
        <p:nvSpPr>
          <p:cNvPr id="148485" name="Rectangle 7"/>
          <p:cNvSpPr>
            <a:spLocks noChangeArrowheads="1"/>
          </p:cNvSpPr>
          <p:nvPr/>
        </p:nvSpPr>
        <p:spPr bwMode="auto">
          <a:xfrm>
            <a:off x="395288" y="2970213"/>
            <a:ext cx="8748712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ru-RU" b="0" i="0">
                <a:solidFill>
                  <a:schemeClr val="bg2"/>
                </a:solidFill>
                <a:latin typeface="Arial Black" pitchFamily="34" charset="0"/>
              </a:rPr>
              <a:t>«</a:t>
            </a:r>
            <a:r>
              <a:rPr lang="ru-RU" b="0" i="0">
                <a:solidFill>
                  <a:srgbClr val="FF3300"/>
                </a:solidFill>
                <a:latin typeface="Arial Black" pitchFamily="34" charset="0"/>
              </a:rPr>
              <a:t>Инвестиционный проект</a:t>
            </a:r>
            <a:r>
              <a:rPr lang="ru-RU" b="0" i="0">
                <a:latin typeface="Arial Black" pitchFamily="34" charset="0"/>
              </a:rPr>
              <a:t> </a:t>
            </a:r>
            <a:r>
              <a:rPr lang="ru-RU" b="0" i="0">
                <a:solidFill>
                  <a:schemeClr val="bg2"/>
                </a:solidFill>
                <a:latin typeface="Arial Black" pitchFamily="34" charset="0"/>
              </a:rPr>
              <a:t>- это </a:t>
            </a:r>
            <a:r>
              <a:rPr lang="ru-RU" i="0">
                <a:solidFill>
                  <a:schemeClr val="bg2"/>
                </a:solidFill>
                <a:latin typeface="Arial Black" pitchFamily="34" charset="0"/>
              </a:rPr>
              <a:t>обоснование экономической целесообразности, объема и сроков осуществления капитальных вложений».</a:t>
            </a:r>
            <a:r>
              <a:rPr lang="ru-RU" sz="2800" b="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148486" name="Rectangle 1030"/>
          <p:cNvSpPr>
            <a:spLocks noChangeArrowheads="1"/>
          </p:cNvSpPr>
          <p:nvPr/>
        </p:nvSpPr>
        <p:spPr bwMode="auto">
          <a:xfrm>
            <a:off x="228600" y="2895600"/>
            <a:ext cx="8686800" cy="3124200"/>
          </a:xfrm>
          <a:prstGeom prst="rect">
            <a:avLst/>
          </a:prstGeom>
          <a:noFill/>
          <a:ln w="57150" cmpd="thickThin">
            <a:solidFill>
              <a:srgbClr val="0033CC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</p:spTree>
  </p:cSld>
  <p:clrMapOvr>
    <a:masterClrMapping/>
  </p:clrMapOvr>
  <p:transition spd="med">
    <p:strips dir="r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4"/>
          <p:cNvSpPr>
            <a:spLocks noChangeArrowheads="1"/>
          </p:cNvSpPr>
          <p:nvPr/>
        </p:nvSpPr>
        <p:spPr bwMode="auto">
          <a:xfrm>
            <a:off x="152400" y="715963"/>
            <a:ext cx="8763000" cy="1798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 algn="ctr"/>
            <a:r>
              <a:rPr lang="ru-RU" sz="3200" i="0">
                <a:solidFill>
                  <a:srgbClr val="FF3300"/>
                </a:solidFill>
                <a:latin typeface="Arial Black" pitchFamily="34" charset="0"/>
              </a:rPr>
              <a:t>Офиц. Методические рекомендации</a:t>
            </a:r>
            <a:r>
              <a:rPr lang="ru-RU" sz="1800" i="0">
                <a:solidFill>
                  <a:srgbClr val="FF3300"/>
                </a:solidFill>
                <a:latin typeface="Arial Black" pitchFamily="34" charset="0"/>
              </a:rPr>
              <a:t> </a:t>
            </a:r>
          </a:p>
          <a:p>
            <a:pPr marL="342900" indent="-342900" algn="ctr"/>
            <a:r>
              <a:rPr lang="ru-RU" sz="3200" b="0" i="0">
                <a:solidFill>
                  <a:schemeClr val="bg2"/>
                </a:solidFill>
                <a:latin typeface="Arial Black" pitchFamily="34" charset="0"/>
              </a:rPr>
              <a:t>понятие «инвестиционный проект» употребляется в двух смыслах:</a:t>
            </a:r>
          </a:p>
        </p:txBody>
      </p:sp>
      <p:sp>
        <p:nvSpPr>
          <p:cNvPr id="44035" name="Rectangle 15"/>
          <p:cNvSpPr>
            <a:spLocks noChangeArrowheads="1"/>
          </p:cNvSpPr>
          <p:nvPr/>
        </p:nvSpPr>
        <p:spPr bwMode="auto">
          <a:xfrm>
            <a:off x="304800" y="2895600"/>
            <a:ext cx="8534400" cy="301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/>
            <a:r>
              <a:rPr lang="ru-RU" sz="3200" b="0" i="0">
                <a:solidFill>
                  <a:schemeClr val="bg2"/>
                </a:solidFill>
                <a:latin typeface="Arial Black" pitchFamily="34" charset="0"/>
              </a:rPr>
              <a:t>1. Как </a:t>
            </a:r>
            <a:r>
              <a:rPr lang="ru-RU" sz="3200" i="0">
                <a:solidFill>
                  <a:srgbClr val="FF3300"/>
                </a:solidFill>
                <a:latin typeface="Arial Black" pitchFamily="34" charset="0"/>
              </a:rPr>
              <a:t>дело, деятельность, мероприятие</a:t>
            </a:r>
            <a:r>
              <a:rPr lang="ru-RU" sz="3200" b="0" i="0">
                <a:solidFill>
                  <a:schemeClr val="bg2"/>
                </a:solidFill>
                <a:latin typeface="Arial Black" pitchFamily="34" charset="0"/>
              </a:rPr>
              <a:t>, предполагающее осуществление комплекса каких-либо действий, обеспечивающих достижение определенных целей.</a:t>
            </a:r>
          </a:p>
        </p:txBody>
      </p:sp>
      <p:sp>
        <p:nvSpPr>
          <p:cNvPr id="44037" name="Rectangle 1029"/>
          <p:cNvSpPr>
            <a:spLocks noChangeArrowheads="1"/>
          </p:cNvSpPr>
          <p:nvPr/>
        </p:nvSpPr>
        <p:spPr bwMode="auto">
          <a:xfrm>
            <a:off x="228600" y="2743200"/>
            <a:ext cx="8610600" cy="3352800"/>
          </a:xfrm>
          <a:prstGeom prst="rect">
            <a:avLst/>
          </a:prstGeom>
          <a:noFill/>
          <a:ln w="57150" cmpd="thickThin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ru-RU"/>
          </a:p>
        </p:txBody>
      </p:sp>
    </p:spTree>
  </p:cSld>
  <p:clrMapOvr>
    <a:masterClrMapping/>
  </p:clrMapOvr>
  <p:transition spd="med">
    <p:strips dir="r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2" name="Rectangle 17"/>
          <p:cNvSpPr>
            <a:spLocks noChangeArrowheads="1"/>
          </p:cNvSpPr>
          <p:nvPr/>
        </p:nvSpPr>
        <p:spPr bwMode="auto">
          <a:xfrm>
            <a:off x="457200" y="1419225"/>
            <a:ext cx="8305800" cy="3503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609600" indent="-609600">
              <a:buFontTx/>
              <a:buAutoNum type="arabicPeriod" startAt="2"/>
            </a:pPr>
            <a:r>
              <a:rPr lang="ru-RU" sz="3200" b="0" i="0">
                <a:solidFill>
                  <a:schemeClr val="bg2"/>
                </a:solidFill>
                <a:latin typeface="Arial Black" pitchFamily="34" charset="0"/>
              </a:rPr>
              <a:t>Как </a:t>
            </a:r>
            <a:r>
              <a:rPr lang="ru-RU" sz="3200" i="0">
                <a:solidFill>
                  <a:srgbClr val="FF3300"/>
                </a:solidFill>
                <a:latin typeface="Arial Black" pitchFamily="34" charset="0"/>
              </a:rPr>
              <a:t>система организационно-правовых и расчетно-финансовых документов</a:t>
            </a:r>
            <a:r>
              <a:rPr lang="ru-RU" sz="3200" b="0" i="0">
                <a:solidFill>
                  <a:schemeClr val="bg2"/>
                </a:solidFill>
                <a:latin typeface="Arial Black" pitchFamily="34" charset="0"/>
              </a:rPr>
              <a:t>, необходимых для осуществления каких-либо действий или описывающих такие действия.</a:t>
            </a:r>
            <a:r>
              <a:rPr lang="ru-RU" sz="2800" b="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150533" name="Rectangle 5"/>
          <p:cNvSpPr>
            <a:spLocks noChangeArrowheads="1"/>
          </p:cNvSpPr>
          <p:nvPr/>
        </p:nvSpPr>
        <p:spPr bwMode="auto">
          <a:xfrm>
            <a:off x="228600" y="1295400"/>
            <a:ext cx="8534400" cy="3810000"/>
          </a:xfrm>
          <a:prstGeom prst="rect">
            <a:avLst/>
          </a:prstGeom>
          <a:noFill/>
          <a:ln w="57150" cmpd="thinThick">
            <a:solidFill>
              <a:srgbClr val="0033CC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ru-RU"/>
          </a:p>
        </p:txBody>
      </p:sp>
    </p:spTree>
  </p:cSld>
  <p:clrMapOvr>
    <a:masterClrMapping/>
  </p:clrMapOvr>
  <p:transition spd="med">
    <p:strips dir="r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0"/>
            <a:ext cx="8153400" cy="4343400"/>
          </a:xfrm>
        </p:spPr>
        <p:txBody>
          <a:bodyPr/>
          <a:lstStyle/>
          <a:p>
            <a:pPr algn="ctr"/>
            <a:r>
              <a:rPr lang="ru-RU" sz="3600" b="1" smtClean="0">
                <a:solidFill>
                  <a:schemeClr val="bg2"/>
                </a:solidFill>
                <a:latin typeface="Arial Black" pitchFamily="34" charset="0"/>
              </a:rPr>
              <a:t>Методические рекомендации по оценке инвестиционных проектов и расчету экономического эффекта </a:t>
            </a:r>
            <a:br>
              <a:rPr lang="ru-RU" sz="3600" b="1" smtClean="0">
                <a:solidFill>
                  <a:schemeClr val="bg2"/>
                </a:solidFill>
                <a:latin typeface="Arial Black" pitchFamily="34" charset="0"/>
              </a:rPr>
            </a:br>
            <a:r>
              <a:rPr lang="ru-RU" sz="3600" b="1" smtClean="0">
                <a:solidFill>
                  <a:srgbClr val="FF3300"/>
                </a:solidFill>
                <a:latin typeface="Arial Black" pitchFamily="34" charset="0"/>
              </a:rPr>
              <a:t>ОАО «Связьинвест»</a:t>
            </a:r>
          </a:p>
        </p:txBody>
      </p:sp>
    </p:spTree>
  </p:cSld>
  <p:clrMapOvr>
    <a:masterClrMapping/>
  </p:clrMapOvr>
  <p:transition spd="med">
    <p:strips dir="r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ChangeArrowheads="1"/>
          </p:cNvSpPr>
          <p:nvPr/>
        </p:nvSpPr>
        <p:spPr bwMode="auto">
          <a:xfrm>
            <a:off x="457200" y="2819400"/>
            <a:ext cx="3276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6915" name="Rectangle 3"/>
          <p:cNvSpPr>
            <a:spLocks noChangeArrowheads="1"/>
          </p:cNvSpPr>
          <p:nvPr/>
        </p:nvSpPr>
        <p:spPr bwMode="auto">
          <a:xfrm>
            <a:off x="2133600" y="838200"/>
            <a:ext cx="480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6916" name="Text Box 4"/>
          <p:cNvSpPr txBox="1">
            <a:spLocks noChangeArrowheads="1"/>
          </p:cNvSpPr>
          <p:nvPr/>
        </p:nvSpPr>
        <p:spPr bwMode="auto">
          <a:xfrm>
            <a:off x="152400" y="838200"/>
            <a:ext cx="86868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ru-RU" sz="4000">
                <a:solidFill>
                  <a:srgbClr val="FF3300"/>
                </a:solidFill>
                <a:latin typeface="Times New Roman" pitchFamily="18" charset="0"/>
              </a:rPr>
              <a:t>ИНВЕСТИЦИОННЫЕ ПРОЕКТЫ</a:t>
            </a:r>
          </a:p>
        </p:txBody>
      </p:sp>
      <p:sp>
        <p:nvSpPr>
          <p:cNvPr id="166917" name="Rectangle 5"/>
          <p:cNvSpPr>
            <a:spLocks noChangeArrowheads="1"/>
          </p:cNvSpPr>
          <p:nvPr/>
        </p:nvSpPr>
        <p:spPr bwMode="auto">
          <a:xfrm>
            <a:off x="152400" y="838200"/>
            <a:ext cx="8763000" cy="990600"/>
          </a:xfrm>
          <a:prstGeom prst="rect">
            <a:avLst/>
          </a:prstGeom>
          <a:noFill/>
          <a:ln w="571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ru-RU"/>
          </a:p>
        </p:txBody>
      </p:sp>
      <p:sp>
        <p:nvSpPr>
          <p:cNvPr id="166918" name="Text Box 6"/>
          <p:cNvSpPr txBox="1">
            <a:spLocks noChangeArrowheads="1"/>
          </p:cNvSpPr>
          <p:nvPr/>
        </p:nvSpPr>
        <p:spPr bwMode="auto">
          <a:xfrm>
            <a:off x="228600" y="2660650"/>
            <a:ext cx="3962400" cy="1228725"/>
          </a:xfrm>
          <a:prstGeom prst="rect">
            <a:avLst/>
          </a:prstGeom>
          <a:noFill/>
          <a:ln w="38100">
            <a:solidFill>
              <a:srgbClr val="0033CC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ru-RU">
                <a:solidFill>
                  <a:srgbClr val="0033CC"/>
                </a:solidFill>
                <a:latin typeface="Times New Roman" pitchFamily="18" charset="0"/>
              </a:rPr>
              <a:t>ИП с финансовой отдачей</a:t>
            </a:r>
          </a:p>
        </p:txBody>
      </p:sp>
      <p:sp>
        <p:nvSpPr>
          <p:cNvPr id="166919" name="Text Box 7"/>
          <p:cNvSpPr txBox="1">
            <a:spLocks noChangeArrowheads="1"/>
          </p:cNvSpPr>
          <p:nvPr/>
        </p:nvSpPr>
        <p:spPr bwMode="auto">
          <a:xfrm>
            <a:off x="4724400" y="2674938"/>
            <a:ext cx="4267200" cy="1228725"/>
          </a:xfrm>
          <a:prstGeom prst="rect">
            <a:avLst/>
          </a:prstGeom>
          <a:noFill/>
          <a:ln w="38100">
            <a:solidFill>
              <a:srgbClr val="0033CC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ru-RU">
                <a:solidFill>
                  <a:srgbClr val="0033CC"/>
                </a:solidFill>
                <a:latin typeface="Times New Roman" pitchFamily="18" charset="0"/>
              </a:rPr>
              <a:t>ИП с качественной отдачей</a:t>
            </a:r>
          </a:p>
        </p:txBody>
      </p:sp>
      <p:cxnSp>
        <p:nvCxnSpPr>
          <p:cNvPr id="166920" name="AutoShape 8"/>
          <p:cNvCxnSpPr>
            <a:cxnSpLocks noChangeShapeType="1"/>
            <a:stCxn id="166917" idx="2"/>
            <a:endCxn id="166918" idx="0"/>
          </p:cNvCxnSpPr>
          <p:nvPr/>
        </p:nvCxnSpPr>
        <p:spPr bwMode="auto">
          <a:xfrm rot="5400000">
            <a:off x="2979737" y="1087438"/>
            <a:ext cx="784225" cy="2324100"/>
          </a:xfrm>
          <a:prstGeom prst="bentConnector3">
            <a:avLst>
              <a:gd name="adj1" fmla="val 49394"/>
            </a:avLst>
          </a:prstGeom>
          <a:noFill/>
          <a:ln w="57150">
            <a:solidFill>
              <a:srgbClr val="FF3300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166921" name="AutoShape 9"/>
          <p:cNvCxnSpPr>
            <a:cxnSpLocks noChangeShapeType="1"/>
            <a:stCxn id="166917" idx="2"/>
            <a:endCxn id="166919" idx="0"/>
          </p:cNvCxnSpPr>
          <p:nvPr/>
        </p:nvCxnSpPr>
        <p:spPr bwMode="auto">
          <a:xfrm rot="16200000" flipH="1">
            <a:off x="5296693" y="1094582"/>
            <a:ext cx="798513" cy="2324100"/>
          </a:xfrm>
          <a:prstGeom prst="bentConnector3">
            <a:avLst>
              <a:gd name="adj1" fmla="val 49306"/>
            </a:avLst>
          </a:prstGeom>
          <a:noFill/>
          <a:ln w="57150">
            <a:solidFill>
              <a:srgbClr val="FF3300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166922" name="AutoShape 10"/>
          <p:cNvCxnSpPr>
            <a:cxnSpLocks noChangeShapeType="1"/>
            <a:stCxn id="166917" idx="2"/>
            <a:endCxn id="166923" idx="0"/>
          </p:cNvCxnSpPr>
          <p:nvPr/>
        </p:nvCxnSpPr>
        <p:spPr bwMode="auto">
          <a:xfrm rot="5400000">
            <a:off x="2073275" y="1993900"/>
            <a:ext cx="2597150" cy="2324100"/>
          </a:xfrm>
          <a:prstGeom prst="bentConnector3">
            <a:avLst>
              <a:gd name="adj1" fmla="val 87407"/>
            </a:avLst>
          </a:prstGeom>
          <a:noFill/>
          <a:ln w="57150">
            <a:solidFill>
              <a:srgbClr val="FF3300"/>
            </a:solidFill>
            <a:miter lim="800000"/>
            <a:headEnd/>
            <a:tailEnd type="triangle" w="med" len="med"/>
          </a:ln>
          <a:effectLst/>
        </p:spPr>
      </p:cxnSp>
      <p:sp>
        <p:nvSpPr>
          <p:cNvPr id="166923" name="Text Box 11"/>
          <p:cNvSpPr txBox="1">
            <a:spLocks noChangeArrowheads="1"/>
          </p:cNvSpPr>
          <p:nvPr/>
        </p:nvSpPr>
        <p:spPr bwMode="auto">
          <a:xfrm>
            <a:off x="228600" y="4473575"/>
            <a:ext cx="3962400" cy="2079625"/>
          </a:xfrm>
          <a:prstGeom prst="rect">
            <a:avLst/>
          </a:prstGeom>
          <a:noFill/>
          <a:ln w="38100">
            <a:solidFill>
              <a:srgbClr val="0033CC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ru-RU" sz="3200">
                <a:solidFill>
                  <a:srgbClr val="0033CC"/>
                </a:solidFill>
                <a:latin typeface="Times New Roman" pitchFamily="18" charset="0"/>
              </a:rPr>
              <a:t>ИП, обусловленные выполнением социальных обязательств</a:t>
            </a:r>
          </a:p>
        </p:txBody>
      </p:sp>
      <p:sp>
        <p:nvSpPr>
          <p:cNvPr id="166924" name="Text Box 12"/>
          <p:cNvSpPr txBox="1">
            <a:spLocks noChangeArrowheads="1"/>
          </p:cNvSpPr>
          <p:nvPr/>
        </p:nvSpPr>
        <p:spPr bwMode="auto">
          <a:xfrm>
            <a:off x="4800600" y="5084763"/>
            <a:ext cx="3962400" cy="617537"/>
          </a:xfrm>
          <a:prstGeom prst="rect">
            <a:avLst/>
          </a:prstGeom>
          <a:noFill/>
          <a:ln w="38100">
            <a:solidFill>
              <a:srgbClr val="0033CC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ru-RU" sz="3200">
                <a:solidFill>
                  <a:srgbClr val="0033CC"/>
                </a:solidFill>
                <a:latin typeface="Times New Roman" pitchFamily="18" charset="0"/>
              </a:rPr>
              <a:t>Специальные ИП</a:t>
            </a:r>
          </a:p>
        </p:txBody>
      </p:sp>
      <p:cxnSp>
        <p:nvCxnSpPr>
          <p:cNvPr id="166925" name="AutoShape 13"/>
          <p:cNvCxnSpPr>
            <a:cxnSpLocks noChangeShapeType="1"/>
            <a:stCxn id="166917" idx="2"/>
            <a:endCxn id="166924" idx="0"/>
          </p:cNvCxnSpPr>
          <p:nvPr/>
        </p:nvCxnSpPr>
        <p:spPr bwMode="auto">
          <a:xfrm rot="16200000" flipH="1">
            <a:off x="4053681" y="2337594"/>
            <a:ext cx="3208338" cy="2247900"/>
          </a:xfrm>
          <a:prstGeom prst="bentConnector3">
            <a:avLst>
              <a:gd name="adj1" fmla="val 70361"/>
            </a:avLst>
          </a:prstGeom>
          <a:noFill/>
          <a:ln w="57150">
            <a:solidFill>
              <a:srgbClr val="FF3300"/>
            </a:solidFill>
            <a:miter lim="800000"/>
            <a:headEnd/>
            <a:tailEnd type="triangle" w="med" len="med"/>
          </a:ln>
          <a:effectLst/>
        </p:spPr>
      </p:cxnSp>
    </p:spTree>
  </p:cSld>
  <p:clrMapOvr>
    <a:masterClrMapping/>
  </p:clrMapOvr>
  <p:transition spd="med">
    <p:strips dir="r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ChangeArrowheads="1"/>
          </p:cNvSpPr>
          <p:nvPr/>
        </p:nvSpPr>
        <p:spPr bwMode="auto">
          <a:xfrm>
            <a:off x="457200" y="3352800"/>
            <a:ext cx="3276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4867" name="Rectangle 3"/>
          <p:cNvSpPr>
            <a:spLocks noChangeArrowheads="1"/>
          </p:cNvSpPr>
          <p:nvPr/>
        </p:nvSpPr>
        <p:spPr bwMode="auto">
          <a:xfrm>
            <a:off x="2133600" y="1371600"/>
            <a:ext cx="480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4868" name="Text Box 4"/>
          <p:cNvSpPr txBox="1">
            <a:spLocks noChangeArrowheads="1"/>
          </p:cNvSpPr>
          <p:nvPr/>
        </p:nvSpPr>
        <p:spPr bwMode="auto">
          <a:xfrm>
            <a:off x="152400" y="1371600"/>
            <a:ext cx="86868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ru-RU" sz="4000">
                <a:solidFill>
                  <a:srgbClr val="FF3300"/>
                </a:solidFill>
                <a:latin typeface="Times New Roman" pitchFamily="18" charset="0"/>
              </a:rPr>
              <a:t>ИНВЕСТИЦИОННЫЕ ПРОЕКТЫ</a:t>
            </a:r>
          </a:p>
        </p:txBody>
      </p:sp>
      <p:sp>
        <p:nvSpPr>
          <p:cNvPr id="164869" name="Rectangle 5"/>
          <p:cNvSpPr>
            <a:spLocks noChangeArrowheads="1"/>
          </p:cNvSpPr>
          <p:nvPr/>
        </p:nvSpPr>
        <p:spPr bwMode="auto">
          <a:xfrm>
            <a:off x="152400" y="1371600"/>
            <a:ext cx="8763000" cy="990600"/>
          </a:xfrm>
          <a:prstGeom prst="rect">
            <a:avLst/>
          </a:prstGeom>
          <a:noFill/>
          <a:ln w="571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ru-RU"/>
          </a:p>
        </p:txBody>
      </p:sp>
      <p:sp>
        <p:nvSpPr>
          <p:cNvPr id="164870" name="Text Box 6"/>
          <p:cNvSpPr txBox="1">
            <a:spLocks noChangeArrowheads="1"/>
          </p:cNvSpPr>
          <p:nvPr/>
        </p:nvSpPr>
        <p:spPr bwMode="auto">
          <a:xfrm>
            <a:off x="228600" y="3194050"/>
            <a:ext cx="3962400" cy="800100"/>
          </a:xfrm>
          <a:prstGeom prst="rect">
            <a:avLst/>
          </a:prstGeom>
          <a:noFill/>
          <a:ln w="38100">
            <a:solidFill>
              <a:srgbClr val="0033CC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ru-RU" sz="4400">
                <a:solidFill>
                  <a:srgbClr val="0033CC"/>
                </a:solidFill>
                <a:latin typeface="Times New Roman" pitchFamily="18" charset="0"/>
              </a:rPr>
              <a:t>Стандартные</a:t>
            </a:r>
          </a:p>
        </p:txBody>
      </p:sp>
      <p:sp>
        <p:nvSpPr>
          <p:cNvPr id="164871" name="Text Box 7"/>
          <p:cNvSpPr txBox="1">
            <a:spLocks noChangeArrowheads="1"/>
          </p:cNvSpPr>
          <p:nvPr/>
        </p:nvSpPr>
        <p:spPr bwMode="auto">
          <a:xfrm>
            <a:off x="4572000" y="3208338"/>
            <a:ext cx="4419600" cy="800100"/>
          </a:xfrm>
          <a:prstGeom prst="rect">
            <a:avLst/>
          </a:prstGeom>
          <a:noFill/>
          <a:ln w="38100">
            <a:solidFill>
              <a:srgbClr val="0033CC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ru-RU" sz="4400">
                <a:solidFill>
                  <a:srgbClr val="0033CC"/>
                </a:solidFill>
                <a:latin typeface="Times New Roman" pitchFamily="18" charset="0"/>
              </a:rPr>
              <a:t>Нестандартные</a:t>
            </a:r>
          </a:p>
        </p:txBody>
      </p:sp>
      <p:cxnSp>
        <p:nvCxnSpPr>
          <p:cNvPr id="164873" name="AutoShape 9"/>
          <p:cNvCxnSpPr>
            <a:cxnSpLocks noChangeShapeType="1"/>
            <a:stCxn id="164869" idx="2"/>
            <a:endCxn id="164870" idx="0"/>
          </p:cNvCxnSpPr>
          <p:nvPr/>
        </p:nvCxnSpPr>
        <p:spPr bwMode="auto">
          <a:xfrm rot="5400000">
            <a:off x="2979737" y="1620838"/>
            <a:ext cx="784225" cy="2324100"/>
          </a:xfrm>
          <a:prstGeom prst="bentConnector3">
            <a:avLst>
              <a:gd name="adj1" fmla="val 49394"/>
            </a:avLst>
          </a:prstGeom>
          <a:noFill/>
          <a:ln w="57150">
            <a:solidFill>
              <a:srgbClr val="FF3300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164874" name="AutoShape 10"/>
          <p:cNvCxnSpPr>
            <a:cxnSpLocks noChangeShapeType="1"/>
            <a:stCxn id="164869" idx="2"/>
            <a:endCxn id="164871" idx="0"/>
          </p:cNvCxnSpPr>
          <p:nvPr/>
        </p:nvCxnSpPr>
        <p:spPr bwMode="auto">
          <a:xfrm rot="16200000" flipH="1">
            <a:off x="5258593" y="1666082"/>
            <a:ext cx="798513" cy="2247900"/>
          </a:xfrm>
          <a:prstGeom prst="bentConnector3">
            <a:avLst>
              <a:gd name="adj1" fmla="val 49306"/>
            </a:avLst>
          </a:prstGeom>
          <a:noFill/>
          <a:ln w="57150">
            <a:solidFill>
              <a:srgbClr val="FF3300"/>
            </a:solidFill>
            <a:miter lim="800000"/>
            <a:headEnd/>
            <a:tailEnd type="triangle" w="med" len="med"/>
          </a:ln>
          <a:effectLst/>
        </p:spPr>
      </p:cxnSp>
      <p:sp>
        <p:nvSpPr>
          <p:cNvPr id="164880" name="Rectangle 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ru-RU" smtClean="0"/>
          </a:p>
        </p:txBody>
      </p:sp>
    </p:spTree>
  </p:cSld>
  <p:clrMapOvr>
    <a:masterClrMapping/>
  </p:clrMapOvr>
  <p:transition spd="med">
    <p:strips dir="r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 bwMode="auto">
          <a:xfrm>
            <a:off x="827584" y="2132856"/>
            <a:ext cx="7200800" cy="107721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3200" dirty="0" smtClean="0">
                <a:solidFill>
                  <a:srgbClr val="0000CC"/>
                </a:solidFill>
                <a:latin typeface="Arial" charset="0"/>
              </a:rPr>
              <a:t>Подходы к оценке экономической эффективности ИП</a:t>
            </a:r>
            <a:endParaRPr kumimoji="0" lang="ru-RU" sz="3200" b="1" i="1" u="none" strike="noStrike" cap="none" normalizeH="0" baseline="0" dirty="0" smtClean="0">
              <a:ln>
                <a:noFill/>
              </a:ln>
              <a:solidFill>
                <a:srgbClr val="0000CC"/>
              </a:solidFill>
              <a:effectLst/>
              <a:latin typeface="Arial" charset="0"/>
            </a:endParaRPr>
          </a:p>
        </p:txBody>
      </p:sp>
      <p:sp>
        <p:nvSpPr>
          <p:cNvPr id="5" name="Прямоугольник 4"/>
          <p:cNvSpPr/>
          <p:nvPr/>
        </p:nvSpPr>
        <p:spPr bwMode="auto">
          <a:xfrm>
            <a:off x="683568" y="3789040"/>
            <a:ext cx="2304256" cy="147732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1" i="1" u="none" strike="noStrike" cap="none" normalizeH="0" baseline="0" dirty="0" smtClean="0">
                <a:ln>
                  <a:noFill/>
                </a:ln>
                <a:solidFill>
                  <a:srgbClr val="0000CC"/>
                </a:solidFill>
                <a:effectLst/>
                <a:latin typeface="Arial" charset="0"/>
              </a:rPr>
              <a:t>Расчет показателей сравнительной экономической эффективности </a:t>
            </a:r>
          </a:p>
        </p:txBody>
      </p:sp>
      <p:sp>
        <p:nvSpPr>
          <p:cNvPr id="6" name="Прямоугольник 5"/>
          <p:cNvSpPr/>
          <p:nvPr/>
        </p:nvSpPr>
        <p:spPr bwMode="auto">
          <a:xfrm>
            <a:off x="5004048" y="3816496"/>
            <a:ext cx="3024336" cy="120032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1" i="1" u="none" strike="noStrike" cap="none" normalizeH="0" baseline="0" dirty="0" smtClean="0">
                <a:ln>
                  <a:noFill/>
                </a:ln>
                <a:solidFill>
                  <a:srgbClr val="0000CC"/>
                </a:solidFill>
                <a:effectLst/>
                <a:latin typeface="Arial" charset="0"/>
              </a:rPr>
              <a:t>Расчет показателей абсолютной экономической эффективности</a:t>
            </a:r>
          </a:p>
        </p:txBody>
      </p:sp>
      <p:sp>
        <p:nvSpPr>
          <p:cNvPr id="13" name="Стрелка вниз 12"/>
          <p:cNvSpPr/>
          <p:nvPr/>
        </p:nvSpPr>
        <p:spPr bwMode="auto">
          <a:xfrm>
            <a:off x="5940152" y="3210074"/>
            <a:ext cx="504056" cy="606422"/>
          </a:xfrm>
          <a:prstGeom prst="down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3200" b="1" i="1" u="none" strike="noStrike" cap="none" normalizeH="0" baseline="0" smtClean="0">
              <a:ln>
                <a:noFill/>
              </a:ln>
              <a:solidFill>
                <a:srgbClr val="0000CC"/>
              </a:solidFill>
              <a:effectLst/>
              <a:latin typeface="Arial" charset="0"/>
            </a:endParaRPr>
          </a:p>
        </p:txBody>
      </p:sp>
      <p:sp>
        <p:nvSpPr>
          <p:cNvPr id="14" name="Стрелка вниз 13"/>
          <p:cNvSpPr/>
          <p:nvPr/>
        </p:nvSpPr>
        <p:spPr bwMode="auto">
          <a:xfrm>
            <a:off x="1691680" y="3210074"/>
            <a:ext cx="504056" cy="578966"/>
          </a:xfrm>
          <a:prstGeom prst="down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3200" b="1" i="1" u="none" strike="noStrike" cap="none" normalizeH="0" baseline="0" smtClean="0">
              <a:ln>
                <a:noFill/>
              </a:ln>
              <a:solidFill>
                <a:srgbClr val="0000CC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131756"/>
      </p:ext>
    </p:extLst>
  </p:cSld>
  <p:clrMapOvr>
    <a:masterClrMapping/>
  </p:clrMapOvr>
  <p:transition spd="med">
    <p:strips dir="r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Расчеты сравнительной экономической эффективности капи­тальных вложений применяются </a:t>
            </a:r>
            <a:r>
              <a:rPr lang="ru-RU" dirty="0" err="1"/>
              <a:t>привыборе</a:t>
            </a:r>
            <a:r>
              <a:rPr lang="ru-RU" dirty="0"/>
              <a:t> наилучшего, с точки зрения экономической эффективности, варианта из числа альтернативных.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4706007"/>
      </p:ext>
    </p:extLst>
  </p:cSld>
  <p:clrMapOvr>
    <a:masterClrMapping/>
  </p:clrMapOvr>
  <p:transition spd="med">
    <p:strips dir="r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6948" y="2291595"/>
            <a:ext cx="8003231" cy="227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084837"/>
      </p:ext>
    </p:extLst>
  </p:cSld>
  <p:clrMapOvr>
    <a:masterClrMapping/>
  </p:clrMapOvr>
  <p:transition spd="med">
    <p:strips dir="r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0821490"/>
              </p:ext>
            </p:extLst>
          </p:nvPr>
        </p:nvGraphicFramePr>
        <p:xfrm>
          <a:off x="1547664" y="2420888"/>
          <a:ext cx="682642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74"/>
                <a:gridCol w="2275474"/>
                <a:gridCol w="2275474"/>
              </a:tblGrid>
              <a:tr h="0">
                <a:tc>
                  <a:txBody>
                    <a:bodyPr/>
                    <a:lstStyle/>
                    <a:p>
                      <a:r>
                        <a:rPr lang="ru-RU" dirty="0" smtClean="0"/>
                        <a:t>Наименование показателей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Вариант 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Вариант 2</a:t>
                      </a:r>
                      <a:endParaRPr lang="ru-RU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ru-RU" dirty="0" smtClean="0"/>
                        <a:t>Капитальные затраты, </a:t>
                      </a:r>
                      <a:r>
                        <a:rPr lang="ru-RU" dirty="0" err="1" smtClean="0"/>
                        <a:t>тыс.руб</a:t>
                      </a:r>
                      <a:r>
                        <a:rPr lang="ru-RU" dirty="0" smtClean="0"/>
                        <a:t>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1200.00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1300.00</a:t>
                      </a:r>
                      <a:endParaRPr lang="ru-RU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ru-RU" dirty="0" smtClean="0"/>
                        <a:t>Эксплуатационные расходы, </a:t>
                      </a:r>
                      <a:r>
                        <a:rPr lang="ru-RU" dirty="0" err="1" smtClean="0"/>
                        <a:t>тыс.руб</a:t>
                      </a:r>
                      <a:r>
                        <a:rPr lang="ru-RU" dirty="0" smtClean="0"/>
                        <a:t>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150.00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150.00</a:t>
                      </a:r>
                      <a:endParaRPr lang="ru-RU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ru-RU" dirty="0" smtClean="0"/>
                        <a:t>Количество каналов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200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87489"/>
      </p:ext>
    </p:extLst>
  </p:cSld>
  <p:clrMapOvr>
    <a:masterClrMapping/>
  </p:clrMapOvr>
  <p:transition spd="med">
    <p:strips dir="r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8600" y="4509120"/>
            <a:ext cx="8686800" cy="4454624"/>
          </a:xfrm>
        </p:spPr>
        <p:txBody>
          <a:bodyPr/>
          <a:lstStyle/>
          <a:p>
            <a:r>
              <a:rPr lang="ru-RU" dirty="0" smtClean="0"/>
              <a:t>Условия сопоставимости</a:t>
            </a:r>
          </a:p>
          <a:p>
            <a:r>
              <a:rPr lang="ru-RU" dirty="0" smtClean="0"/>
              <a:t>П1=(1200.0+5*150.0)/100=19.5тыс.руб./</a:t>
            </a:r>
            <a:r>
              <a:rPr lang="ru-RU" dirty="0" err="1" smtClean="0"/>
              <a:t>кан</a:t>
            </a:r>
            <a:r>
              <a:rPr lang="ru-RU" dirty="0" smtClean="0"/>
              <a:t>.</a:t>
            </a:r>
          </a:p>
          <a:p>
            <a:r>
              <a:rPr lang="ru-RU" dirty="0" smtClean="0"/>
              <a:t>П2=(1300,0+5*150,0)/200=4.87тыс.руб./</a:t>
            </a:r>
            <a:r>
              <a:rPr lang="ru-RU" dirty="0" err="1" smtClean="0"/>
              <a:t>кан</a:t>
            </a:r>
            <a:r>
              <a:rPr lang="ru-RU" dirty="0" smtClean="0"/>
              <a:t>.</a:t>
            </a:r>
          </a:p>
          <a:p>
            <a:r>
              <a:rPr lang="ru-RU" baseline="-25000" dirty="0" smtClean="0"/>
              <a:t> 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497935"/>
              </p:ext>
            </p:extLst>
          </p:nvPr>
        </p:nvGraphicFramePr>
        <p:xfrm>
          <a:off x="1158789" y="1700808"/>
          <a:ext cx="682642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474"/>
                <a:gridCol w="2275474"/>
                <a:gridCol w="2275474"/>
              </a:tblGrid>
              <a:tr h="0">
                <a:tc>
                  <a:txBody>
                    <a:bodyPr/>
                    <a:lstStyle/>
                    <a:p>
                      <a:r>
                        <a:rPr lang="ru-RU" dirty="0" smtClean="0"/>
                        <a:t>Наименование показателей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Вариант 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Вариант 2</a:t>
                      </a:r>
                      <a:endParaRPr lang="ru-RU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ru-RU" dirty="0" smtClean="0"/>
                        <a:t>Капитальные затраты, </a:t>
                      </a:r>
                      <a:r>
                        <a:rPr lang="ru-RU" dirty="0" err="1" smtClean="0"/>
                        <a:t>тыс.руб</a:t>
                      </a:r>
                      <a:r>
                        <a:rPr lang="ru-RU" dirty="0" smtClean="0"/>
                        <a:t>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1200.00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1300.00</a:t>
                      </a:r>
                      <a:endParaRPr lang="ru-RU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ru-RU" dirty="0" smtClean="0"/>
                        <a:t>Эксплуатационные расходы, </a:t>
                      </a:r>
                      <a:r>
                        <a:rPr lang="ru-RU" dirty="0" err="1" smtClean="0"/>
                        <a:t>тыс.руб</a:t>
                      </a:r>
                      <a:r>
                        <a:rPr lang="ru-RU" dirty="0" smtClean="0"/>
                        <a:t>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150.00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150.00</a:t>
                      </a:r>
                      <a:endParaRPr lang="ru-RU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ru-RU" dirty="0" smtClean="0"/>
                        <a:t>Количество каналов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200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9694038"/>
      </p:ext>
    </p:extLst>
  </p:cSld>
  <p:clrMapOvr>
    <a:masterClrMapping/>
  </p:clrMapOvr>
  <p:transition spd="med">
    <p:strips dir="r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2"/>
          <p:cNvSpPr>
            <a:spLocks noChangeArrowheads="1"/>
          </p:cNvSpPr>
          <p:nvPr/>
        </p:nvSpPr>
        <p:spPr bwMode="auto">
          <a:xfrm>
            <a:off x="1447800" y="404664"/>
            <a:ext cx="5943600" cy="2490936"/>
          </a:xfrm>
          <a:prstGeom prst="rect">
            <a:avLst/>
          </a:prstGeom>
          <a:noFill/>
          <a:ln w="57150" cmpd="thickThin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ru-RU" sz="4400" i="0" dirty="0">
                <a:solidFill>
                  <a:srgbClr val="FF3300"/>
                </a:solidFill>
              </a:rPr>
              <a:t>Методы оценки </a:t>
            </a:r>
          </a:p>
          <a:p>
            <a:pPr algn="ctr">
              <a:spcBef>
                <a:spcPct val="0"/>
              </a:spcBef>
            </a:pPr>
            <a:r>
              <a:rPr lang="ru-RU" sz="4400" i="0" dirty="0">
                <a:solidFill>
                  <a:srgbClr val="FF3300"/>
                </a:solidFill>
              </a:rPr>
              <a:t>а</a:t>
            </a:r>
            <a:r>
              <a:rPr lang="ru-RU" sz="4400" i="0" dirty="0" smtClean="0">
                <a:solidFill>
                  <a:srgbClr val="FF3300"/>
                </a:solidFill>
              </a:rPr>
              <a:t>бсолютной </a:t>
            </a:r>
          </a:p>
          <a:p>
            <a:pPr algn="ctr">
              <a:spcBef>
                <a:spcPct val="0"/>
              </a:spcBef>
            </a:pPr>
            <a:r>
              <a:rPr lang="ru-RU" sz="4400" i="0" dirty="0" smtClean="0">
                <a:solidFill>
                  <a:srgbClr val="FF3300"/>
                </a:solidFill>
              </a:rPr>
              <a:t>эффективности </a:t>
            </a:r>
            <a:r>
              <a:rPr lang="ru-RU" sz="4400" i="0" dirty="0">
                <a:solidFill>
                  <a:srgbClr val="FF3300"/>
                </a:solidFill>
              </a:rPr>
              <a:t>ИП</a:t>
            </a:r>
          </a:p>
        </p:txBody>
      </p:sp>
      <p:sp>
        <p:nvSpPr>
          <p:cNvPr id="48131" name="Rectangle 23"/>
          <p:cNvSpPr>
            <a:spLocks noChangeArrowheads="1"/>
          </p:cNvSpPr>
          <p:nvPr/>
        </p:nvSpPr>
        <p:spPr bwMode="auto">
          <a:xfrm>
            <a:off x="228600" y="4038600"/>
            <a:ext cx="4038600" cy="990600"/>
          </a:xfrm>
          <a:prstGeom prst="rect">
            <a:avLst/>
          </a:prstGeom>
          <a:noFill/>
          <a:ln w="57150" cmpd="thinThick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ru-RU" sz="4400" i="0"/>
              <a:t>Статические</a:t>
            </a:r>
          </a:p>
        </p:txBody>
      </p:sp>
      <p:sp>
        <p:nvSpPr>
          <p:cNvPr id="48132" name="Rectangle 24"/>
          <p:cNvSpPr>
            <a:spLocks noChangeArrowheads="1"/>
          </p:cNvSpPr>
          <p:nvPr/>
        </p:nvSpPr>
        <p:spPr bwMode="auto">
          <a:xfrm>
            <a:off x="4572000" y="4038600"/>
            <a:ext cx="4267200" cy="990600"/>
          </a:xfrm>
          <a:prstGeom prst="rect">
            <a:avLst/>
          </a:prstGeom>
          <a:noFill/>
          <a:ln w="57150" cmpd="thinThick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ru-RU" sz="4400" i="0"/>
              <a:t>Динамические</a:t>
            </a:r>
          </a:p>
        </p:txBody>
      </p:sp>
      <p:cxnSp>
        <p:nvCxnSpPr>
          <p:cNvPr id="48133" name="AutoShape 25"/>
          <p:cNvCxnSpPr>
            <a:cxnSpLocks noChangeShapeType="1"/>
            <a:stCxn id="48130" idx="2"/>
            <a:endCxn id="48131" idx="0"/>
          </p:cNvCxnSpPr>
          <p:nvPr/>
        </p:nvCxnSpPr>
        <p:spPr bwMode="auto">
          <a:xfrm rot="5400000">
            <a:off x="2762250" y="2381250"/>
            <a:ext cx="1143000" cy="2171700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chemeClr val="bg2"/>
            </a:solidFill>
            <a:miter lim="800000"/>
            <a:headEnd/>
            <a:tailEnd type="triangle" w="med" len="med"/>
          </a:ln>
        </p:spPr>
      </p:cxnSp>
      <p:cxnSp>
        <p:nvCxnSpPr>
          <p:cNvPr id="48134" name="AutoShape 26"/>
          <p:cNvCxnSpPr>
            <a:cxnSpLocks noChangeShapeType="1"/>
            <a:stCxn id="48130" idx="2"/>
            <a:endCxn id="48132" idx="0"/>
          </p:cNvCxnSpPr>
          <p:nvPr/>
        </p:nvCxnSpPr>
        <p:spPr bwMode="auto">
          <a:xfrm rot="16200000" flipH="1">
            <a:off x="4991100" y="2324100"/>
            <a:ext cx="1143000" cy="2286000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chemeClr val="bg2"/>
            </a:solidFill>
            <a:miter lim="800000"/>
            <a:headEnd/>
            <a:tailEnd type="triangle" w="med" len="med"/>
          </a:ln>
        </p:spPr>
      </p:cxnSp>
    </p:spTree>
  </p:cSld>
  <p:clrMapOvr>
    <a:masterClrMapping/>
  </p:clrMapOvr>
  <p:transition spd="med">
    <p:strips dir="r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4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229600" cy="1371600"/>
          </a:xfrm>
        </p:spPr>
        <p:txBody>
          <a:bodyPr/>
          <a:lstStyle/>
          <a:p>
            <a:pPr algn="ctr" eaLnBrk="1" hangingPunct="1"/>
            <a:r>
              <a:rPr lang="ru-RU" sz="5400" b="1" smtClean="0">
                <a:solidFill>
                  <a:srgbClr val="F93833"/>
                </a:solidFill>
              </a:rPr>
              <a:t>Статические методы</a:t>
            </a:r>
          </a:p>
        </p:txBody>
      </p:sp>
      <p:sp>
        <p:nvSpPr>
          <p:cNvPr id="117766" name="Rectangle 6"/>
          <p:cNvSpPr>
            <a:spLocks noChangeArrowheads="1"/>
          </p:cNvSpPr>
          <p:nvPr/>
        </p:nvSpPr>
        <p:spPr bwMode="auto">
          <a:xfrm>
            <a:off x="838200" y="1905000"/>
            <a:ext cx="7772400" cy="1066800"/>
          </a:xfrm>
          <a:prstGeom prst="rect">
            <a:avLst/>
          </a:prstGeom>
          <a:noFill/>
          <a:ln w="38100" cmpd="dbl">
            <a:solidFill>
              <a:srgbClr val="0000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ru-RU" sz="2800" i="0"/>
              <a:t>Метод простого срока окупаемости</a:t>
            </a:r>
            <a:r>
              <a:rPr lang="en-US" sz="2800" i="0"/>
              <a:t> 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 i="0"/>
              <a:t>(PBP – Payback period)</a:t>
            </a:r>
            <a:endParaRPr lang="ru-RU" sz="2800" b="0" i="0"/>
          </a:p>
        </p:txBody>
      </p:sp>
      <p:sp>
        <p:nvSpPr>
          <p:cNvPr id="117767" name="Rectangle 7"/>
          <p:cNvSpPr>
            <a:spLocks noChangeArrowheads="1"/>
          </p:cNvSpPr>
          <p:nvPr/>
        </p:nvSpPr>
        <p:spPr bwMode="auto">
          <a:xfrm>
            <a:off x="838200" y="3276600"/>
            <a:ext cx="7772400" cy="1066800"/>
          </a:xfrm>
          <a:prstGeom prst="rect">
            <a:avLst/>
          </a:prstGeom>
          <a:noFill/>
          <a:ln w="38100" cmpd="dbl">
            <a:solidFill>
              <a:srgbClr val="0000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ru-RU" sz="2800" i="0"/>
              <a:t>Метод средней нормы прибыли на </a:t>
            </a:r>
            <a:endParaRPr lang="en-US" sz="2800" i="0"/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ru-RU" sz="2800" i="0"/>
              <a:t>инвестиции (</a:t>
            </a:r>
            <a:r>
              <a:rPr lang="en-US" sz="2800" i="0"/>
              <a:t>ARR – Average rate of return)</a:t>
            </a:r>
            <a:endParaRPr lang="ru-RU" sz="2800" i="0"/>
          </a:p>
        </p:txBody>
      </p:sp>
      <p:sp>
        <p:nvSpPr>
          <p:cNvPr id="117768" name="Rectangle 8"/>
          <p:cNvSpPr>
            <a:spLocks noChangeArrowheads="1"/>
          </p:cNvSpPr>
          <p:nvPr/>
        </p:nvSpPr>
        <p:spPr bwMode="auto">
          <a:xfrm>
            <a:off x="838200" y="4724400"/>
            <a:ext cx="7772400" cy="1066800"/>
          </a:xfrm>
          <a:prstGeom prst="rect">
            <a:avLst/>
          </a:prstGeom>
          <a:noFill/>
          <a:ln w="38100" cmpd="dbl">
            <a:solidFill>
              <a:srgbClr val="0000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ru-RU" sz="2800" i="0"/>
              <a:t>Метод анализа точки безубыточности </a:t>
            </a:r>
            <a:endParaRPr lang="en-US" sz="2800" i="0"/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ru-RU" sz="2800" i="0"/>
              <a:t>(</a:t>
            </a:r>
            <a:r>
              <a:rPr lang="en-US" sz="2800" i="0"/>
              <a:t>BEP – break-even point)</a:t>
            </a:r>
            <a:endParaRPr lang="ru-RU" sz="2800" i="0"/>
          </a:p>
        </p:txBody>
      </p:sp>
      <p:sp>
        <p:nvSpPr>
          <p:cNvPr id="117769" name="AutoShape 9"/>
          <p:cNvSpPr>
            <a:spLocks noChangeArrowheads="1"/>
          </p:cNvSpPr>
          <p:nvPr/>
        </p:nvSpPr>
        <p:spPr bwMode="auto">
          <a:xfrm>
            <a:off x="152400" y="2286000"/>
            <a:ext cx="609600" cy="457200"/>
          </a:xfrm>
          <a:prstGeom prst="rightArrow">
            <a:avLst>
              <a:gd name="adj1" fmla="val 50000"/>
              <a:gd name="adj2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 sz="3200"/>
          </a:p>
        </p:txBody>
      </p:sp>
      <p:sp>
        <p:nvSpPr>
          <p:cNvPr id="117770" name="AutoShape 10"/>
          <p:cNvSpPr>
            <a:spLocks noChangeArrowheads="1"/>
          </p:cNvSpPr>
          <p:nvPr/>
        </p:nvSpPr>
        <p:spPr bwMode="auto">
          <a:xfrm>
            <a:off x="152400" y="3505200"/>
            <a:ext cx="609600" cy="457200"/>
          </a:xfrm>
          <a:prstGeom prst="rightArrow">
            <a:avLst>
              <a:gd name="adj1" fmla="val 50000"/>
              <a:gd name="adj2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 sz="3200"/>
          </a:p>
        </p:txBody>
      </p:sp>
      <p:sp>
        <p:nvSpPr>
          <p:cNvPr id="117771" name="AutoShape 11"/>
          <p:cNvSpPr>
            <a:spLocks noChangeArrowheads="1"/>
          </p:cNvSpPr>
          <p:nvPr/>
        </p:nvSpPr>
        <p:spPr bwMode="auto">
          <a:xfrm>
            <a:off x="152400" y="4953000"/>
            <a:ext cx="609600" cy="457200"/>
          </a:xfrm>
          <a:prstGeom prst="rightArrow">
            <a:avLst>
              <a:gd name="adj1" fmla="val 50000"/>
              <a:gd name="adj2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 sz="3200"/>
          </a:p>
        </p:txBody>
      </p:sp>
    </p:spTree>
  </p:cSld>
  <p:clrMapOvr>
    <a:masterClrMapping/>
  </p:clrMapOvr>
  <p:transition spd="med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77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77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7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7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7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7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7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7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7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6" grpId="0" animBg="1" autoUpdateAnimBg="0"/>
      <p:bldP spid="117767" grpId="0" animBg="1" autoUpdateAnimBg="0"/>
      <p:bldP spid="117768" grpId="0" animBg="1" autoUpdateAnimBg="0"/>
      <p:bldP spid="117769" grpId="0" animBg="1"/>
      <p:bldP spid="117770" grpId="0" animBg="1"/>
      <p:bldP spid="11777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610600" cy="1143000"/>
          </a:xfrm>
          <a:noFill/>
        </p:spPr>
        <p:txBody>
          <a:bodyPr/>
          <a:lstStyle/>
          <a:p>
            <a:pPr algn="ctr" eaLnBrk="1" hangingPunct="1"/>
            <a:r>
              <a:rPr lang="ru-RU" sz="4000" b="1" smtClean="0">
                <a:solidFill>
                  <a:srgbClr val="F93833"/>
                </a:solidFill>
              </a:rPr>
              <a:t>Простой срок окупаемости</a:t>
            </a:r>
            <a:r>
              <a:rPr lang="en-US" sz="4000" b="1" smtClean="0">
                <a:solidFill>
                  <a:srgbClr val="F93833"/>
                </a:solidFill>
              </a:rPr>
              <a:t> (PBP)</a:t>
            </a:r>
            <a:endParaRPr lang="ru-RU" sz="4000" smtClean="0">
              <a:solidFill>
                <a:srgbClr val="F93833"/>
              </a:solidFill>
            </a:endParaRPr>
          </a:p>
        </p:txBody>
      </p:sp>
      <p:sp>
        <p:nvSpPr>
          <p:cNvPr id="118789" name="Rectangle 5"/>
          <p:cNvSpPr>
            <a:spLocks noChangeArrowheads="1"/>
          </p:cNvSpPr>
          <p:nvPr/>
        </p:nvSpPr>
        <p:spPr bwMode="auto">
          <a:xfrm>
            <a:off x="3429000" y="2286000"/>
            <a:ext cx="5486400" cy="1981200"/>
          </a:xfrm>
          <a:prstGeom prst="rect">
            <a:avLst/>
          </a:prstGeom>
          <a:solidFill>
            <a:schemeClr val="bg1"/>
          </a:solidFill>
          <a:ln w="38100" cmpd="dbl">
            <a:solidFill>
              <a:srgbClr val="0000CC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ru-RU" sz="2800"/>
              <a:t>Используется в том случае, </a:t>
            </a:r>
          </a:p>
          <a:p>
            <a:pPr>
              <a:spcBef>
                <a:spcPct val="0"/>
              </a:spcBef>
            </a:pPr>
            <a:r>
              <a:rPr lang="ru-RU" sz="2800"/>
              <a:t>когда поступления по годам </a:t>
            </a:r>
          </a:p>
          <a:p>
            <a:pPr>
              <a:spcBef>
                <a:spcPct val="0"/>
              </a:spcBef>
            </a:pPr>
            <a:r>
              <a:rPr lang="ru-RU" sz="2800"/>
              <a:t>проектного периода </a:t>
            </a:r>
            <a:r>
              <a:rPr lang="ru-RU" sz="3200">
                <a:solidFill>
                  <a:srgbClr val="F93833"/>
                </a:solidFill>
              </a:rPr>
              <a:t>равны</a:t>
            </a:r>
          </a:p>
        </p:txBody>
      </p:sp>
      <p:graphicFrame>
        <p:nvGraphicFramePr>
          <p:cNvPr id="118795" name="Object 11"/>
          <p:cNvGraphicFramePr>
            <a:graphicFrameLocks noChangeAspect="1"/>
          </p:cNvGraphicFramePr>
          <p:nvPr/>
        </p:nvGraphicFramePr>
        <p:xfrm>
          <a:off x="203200" y="2536825"/>
          <a:ext cx="3327400" cy="161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Формула" r:id="rId3" imgW="914400" imgH="444240" progId="Equation.3">
                  <p:embed/>
                </p:oleObj>
              </mc:Choice>
              <mc:Fallback>
                <p:oleObj name="Формула" r:id="rId3" imgW="914400" imgH="4442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" y="2536825"/>
                        <a:ext cx="3327400" cy="1619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797" name="Rectangle 13"/>
          <p:cNvSpPr>
            <a:spLocks noChangeArrowheads="1"/>
          </p:cNvSpPr>
          <p:nvPr/>
        </p:nvSpPr>
        <p:spPr bwMode="auto">
          <a:xfrm>
            <a:off x="533400" y="1676400"/>
            <a:ext cx="2590800" cy="109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i="0" u="sng">
                <a:solidFill>
                  <a:srgbClr val="F93833"/>
                </a:solidFill>
              </a:rPr>
              <a:t>Подход 1</a:t>
            </a:r>
          </a:p>
          <a:p>
            <a:endParaRPr lang="ru-RU" sz="2000" u="sng">
              <a:solidFill>
                <a:srgbClr val="F93833"/>
              </a:solidFill>
            </a:endParaRPr>
          </a:p>
        </p:txBody>
      </p:sp>
      <p:sp>
        <p:nvSpPr>
          <p:cNvPr id="118798" name="Text Box 14"/>
          <p:cNvSpPr txBox="1">
            <a:spLocks noChangeArrowheads="1"/>
          </p:cNvSpPr>
          <p:nvPr/>
        </p:nvSpPr>
        <p:spPr bwMode="auto">
          <a:xfrm>
            <a:off x="228600" y="4784725"/>
            <a:ext cx="94488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 i="0"/>
              <a:t>где </a:t>
            </a:r>
            <a:r>
              <a:rPr lang="en-US" sz="4000" i="0"/>
              <a:t>I</a:t>
            </a:r>
            <a:r>
              <a:rPr lang="en-US" sz="4000" i="0" baseline="-25000"/>
              <a:t>0</a:t>
            </a:r>
            <a:r>
              <a:rPr lang="ru-RU" sz="4000" i="0" baseline="-25000"/>
              <a:t> </a:t>
            </a:r>
            <a:r>
              <a:rPr lang="ru-RU" sz="4000" i="0"/>
              <a:t>– </a:t>
            </a:r>
            <a:r>
              <a:rPr lang="ru-RU" sz="3200" i="0"/>
              <a:t>сумма первоначальных вложений</a:t>
            </a:r>
            <a:endParaRPr lang="ru-RU" sz="3200" i="0" baseline="-25000"/>
          </a:p>
        </p:txBody>
      </p:sp>
      <p:sp>
        <p:nvSpPr>
          <p:cNvPr id="118799" name="Text Box 15"/>
          <p:cNvSpPr txBox="1">
            <a:spLocks noChangeArrowheads="1"/>
          </p:cNvSpPr>
          <p:nvPr/>
        </p:nvSpPr>
        <p:spPr bwMode="auto">
          <a:xfrm>
            <a:off x="838200" y="5592763"/>
            <a:ext cx="83058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 i="0"/>
              <a:t> </a:t>
            </a:r>
            <a:r>
              <a:rPr lang="en-US" sz="3200" i="0"/>
              <a:t>NCF – </a:t>
            </a:r>
            <a:r>
              <a:rPr lang="ru-RU" sz="3200" i="0"/>
              <a:t>чистые годовые поступления</a:t>
            </a:r>
          </a:p>
        </p:txBody>
      </p:sp>
    </p:spTree>
  </p:cSld>
  <p:clrMapOvr>
    <a:masterClrMapping/>
  </p:clrMapOvr>
  <p:transition spd="med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8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8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118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118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18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7" dur="500"/>
                                        <p:tgtEl>
                                          <p:spTgt spid="118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9" grpId="0" animBg="1" autoUpdateAnimBg="0"/>
      <p:bldP spid="118797" grpId="0" autoUpdateAnimBg="0"/>
      <p:bldP spid="118798" grpId="0" autoUpdateAnimBg="0"/>
      <p:bldP spid="118799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2"/>
          <p:cNvSpPr txBox="1">
            <a:spLocks noChangeArrowheads="1"/>
          </p:cNvSpPr>
          <p:nvPr/>
        </p:nvSpPr>
        <p:spPr bwMode="auto">
          <a:xfrm>
            <a:off x="762000" y="609600"/>
            <a:ext cx="48768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4000" i="0">
                <a:solidFill>
                  <a:srgbClr val="F9322D"/>
                </a:solidFill>
              </a:rPr>
              <a:t>Пример:</a:t>
            </a:r>
          </a:p>
        </p:txBody>
      </p:sp>
      <p:sp>
        <p:nvSpPr>
          <p:cNvPr id="2052" name="Text Box 3"/>
          <p:cNvSpPr txBox="1">
            <a:spLocks noChangeArrowheads="1"/>
          </p:cNvSpPr>
          <p:nvPr/>
        </p:nvSpPr>
        <p:spPr bwMode="auto">
          <a:xfrm>
            <a:off x="304800" y="1506538"/>
            <a:ext cx="8610600" cy="326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 i="0"/>
              <a:t>Имеется инвестиционный проект, требующий первоначальных вложений в размере 600 т.р. </a:t>
            </a:r>
          </a:p>
          <a:p>
            <a:r>
              <a:rPr lang="ru-RU" sz="3200" i="0"/>
              <a:t>Ожидается, что поступления денежных средств в течение следующих 8 лет составят 150 т.р. ежегодно.</a:t>
            </a:r>
          </a:p>
        </p:txBody>
      </p:sp>
      <p:graphicFrame>
        <p:nvGraphicFramePr>
          <p:cNvPr id="119812" name="Object 4"/>
          <p:cNvGraphicFramePr>
            <a:graphicFrameLocks noChangeAspect="1"/>
          </p:cNvGraphicFramePr>
          <p:nvPr/>
        </p:nvGraphicFramePr>
        <p:xfrm>
          <a:off x="1622425" y="4840288"/>
          <a:ext cx="4984750" cy="1312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" name="Формула" r:id="rId3" imgW="1688760" imgH="444240" progId="Equation.3">
                  <p:embed/>
                </p:oleObj>
              </mc:Choice>
              <mc:Fallback>
                <p:oleObj name="Формула" r:id="rId3" imgW="1688760" imgH="4442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2425" y="4840288"/>
                        <a:ext cx="4984750" cy="1312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13" name="Text Box 5"/>
          <p:cNvSpPr txBox="1">
            <a:spLocks noChangeArrowheads="1"/>
          </p:cNvSpPr>
          <p:nvPr/>
        </p:nvSpPr>
        <p:spPr bwMode="auto">
          <a:xfrm>
            <a:off x="6248400" y="5149850"/>
            <a:ext cx="1371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0" i="0">
                <a:solidFill>
                  <a:schemeClr val="tx1"/>
                </a:solidFill>
                <a:latin typeface="Times New Roman" pitchFamily="18" charset="0"/>
              </a:rPr>
              <a:t>года</a:t>
            </a:r>
          </a:p>
        </p:txBody>
      </p:sp>
    </p:spTree>
  </p:cSld>
  <p:clrMapOvr>
    <a:masterClrMapping/>
  </p:clrMapOvr>
  <p:transition spd="med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19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119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3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381000" y="1081088"/>
            <a:ext cx="2590800" cy="109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i="0" u="sng">
                <a:solidFill>
                  <a:srgbClr val="F93833"/>
                </a:solidFill>
              </a:rPr>
              <a:t>Подход 2</a:t>
            </a:r>
          </a:p>
          <a:p>
            <a:endParaRPr lang="ru-RU" sz="2000" u="sng">
              <a:solidFill>
                <a:srgbClr val="F93833"/>
              </a:solidFill>
            </a:endParaRPr>
          </a:p>
        </p:txBody>
      </p:sp>
      <p:sp>
        <p:nvSpPr>
          <p:cNvPr id="50179" name="Text Box 3"/>
          <p:cNvSpPr txBox="1">
            <a:spLocks noChangeArrowheads="1"/>
          </p:cNvSpPr>
          <p:nvPr/>
        </p:nvSpPr>
        <p:spPr bwMode="auto">
          <a:xfrm>
            <a:off x="304800" y="1722438"/>
            <a:ext cx="9067800" cy="155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 i="0"/>
              <a:t>денежных поступлений от реализации ИП нарастающим итогом, т.е. кумулятивной величины</a:t>
            </a:r>
          </a:p>
        </p:txBody>
      </p:sp>
      <p:sp>
        <p:nvSpPr>
          <p:cNvPr id="126981" name="Rectangle 5"/>
          <p:cNvSpPr>
            <a:spLocks noChangeArrowheads="1"/>
          </p:cNvSpPr>
          <p:nvPr/>
        </p:nvSpPr>
        <p:spPr bwMode="auto">
          <a:xfrm>
            <a:off x="762000" y="3733800"/>
            <a:ext cx="7848600" cy="1371600"/>
          </a:xfrm>
          <a:prstGeom prst="rect">
            <a:avLst/>
          </a:prstGeom>
          <a:solidFill>
            <a:schemeClr val="bg1"/>
          </a:solidFill>
          <a:ln w="38100" cmpd="dbl">
            <a:solidFill>
              <a:srgbClr val="0000CC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ru-RU" sz="2800" i="0"/>
              <a:t>Используется, когда поступления </a:t>
            </a:r>
          </a:p>
          <a:p>
            <a:pPr>
              <a:spcBef>
                <a:spcPct val="0"/>
              </a:spcBef>
            </a:pPr>
            <a:r>
              <a:rPr lang="ru-RU" sz="2800" i="0"/>
              <a:t>по годам проектного периода </a:t>
            </a:r>
            <a:r>
              <a:rPr lang="ru-RU" sz="2800" i="0">
                <a:solidFill>
                  <a:srgbClr val="F93833"/>
                </a:solidFill>
              </a:rPr>
              <a:t>НЕ </a:t>
            </a:r>
            <a:r>
              <a:rPr lang="ru-RU" sz="3200" i="0">
                <a:solidFill>
                  <a:srgbClr val="F93833"/>
                </a:solidFill>
              </a:rPr>
              <a:t>равны</a:t>
            </a:r>
          </a:p>
        </p:txBody>
      </p:sp>
      <p:sp>
        <p:nvSpPr>
          <p:cNvPr id="50181" name="Rectangle 6"/>
          <p:cNvSpPr>
            <a:spLocks noChangeArrowheads="1"/>
          </p:cNvSpPr>
          <p:nvPr/>
        </p:nvSpPr>
        <p:spPr bwMode="auto">
          <a:xfrm>
            <a:off x="2743200" y="1143000"/>
            <a:ext cx="49307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ru-RU" sz="3200" i="0"/>
              <a:t>состоит в определении</a:t>
            </a:r>
          </a:p>
        </p:txBody>
      </p:sp>
    </p:spTree>
  </p:cSld>
  <p:clrMapOvr>
    <a:masterClrMapping/>
  </p:clrMapOvr>
  <p:transition spd="med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26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1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2"/>
          <p:cNvSpPr txBox="1">
            <a:spLocks noChangeArrowheads="1"/>
          </p:cNvSpPr>
          <p:nvPr/>
        </p:nvSpPr>
        <p:spPr bwMode="auto">
          <a:xfrm>
            <a:off x="762000" y="609600"/>
            <a:ext cx="48768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4000" i="0">
                <a:solidFill>
                  <a:srgbClr val="F9322D"/>
                </a:solidFill>
              </a:rPr>
              <a:t>Пример:</a:t>
            </a:r>
          </a:p>
        </p:txBody>
      </p:sp>
      <p:sp>
        <p:nvSpPr>
          <p:cNvPr id="51203" name="Text Box 3"/>
          <p:cNvSpPr txBox="1">
            <a:spLocks noChangeArrowheads="1"/>
          </p:cNvSpPr>
          <p:nvPr/>
        </p:nvSpPr>
        <p:spPr bwMode="auto">
          <a:xfrm>
            <a:off x="304800" y="1589088"/>
            <a:ext cx="8763000" cy="3973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/>
              <a:t>	</a:t>
            </a:r>
            <a:r>
              <a:rPr lang="ru-RU" sz="3400" i="0"/>
              <a:t>Имеется ИП, требующий первоначальных вложений в размере 600 т.р. </a:t>
            </a:r>
          </a:p>
          <a:p>
            <a:r>
              <a:rPr lang="ru-RU" sz="3400" i="0"/>
              <a:t>	Чистый поток денежных средств по годам проектного периода существенно различаются, нарастая со временем, и составляют:</a:t>
            </a:r>
          </a:p>
        </p:txBody>
      </p:sp>
    </p:spTree>
  </p:cSld>
  <p:clrMapOvr>
    <a:masterClrMapping/>
  </p:clrMapOvr>
  <p:transition spd="med">
    <p:strips dir="rd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/>
          <p:cNvSpPr txBox="1">
            <a:spLocks noChangeArrowheads="1"/>
          </p:cNvSpPr>
          <p:nvPr/>
        </p:nvSpPr>
        <p:spPr bwMode="auto">
          <a:xfrm>
            <a:off x="457200" y="762000"/>
            <a:ext cx="5257800" cy="2776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70000"/>
              </a:lnSpc>
            </a:pPr>
            <a:r>
              <a:rPr lang="en-US" sz="3200" i="0"/>
              <a:t>1 </a:t>
            </a:r>
            <a:r>
              <a:rPr lang="ru-RU" sz="3200" i="0"/>
              <a:t>год………………50 т.р.</a:t>
            </a:r>
          </a:p>
          <a:p>
            <a:pPr>
              <a:lnSpc>
                <a:spcPct val="70000"/>
              </a:lnSpc>
            </a:pPr>
            <a:r>
              <a:rPr lang="ru-RU" sz="3200" i="0"/>
              <a:t>2 год ……………..100 т.р.</a:t>
            </a:r>
          </a:p>
          <a:p>
            <a:pPr>
              <a:lnSpc>
                <a:spcPct val="70000"/>
              </a:lnSpc>
            </a:pPr>
            <a:r>
              <a:rPr lang="ru-RU" sz="3200" i="0"/>
              <a:t>3 год ……………..200 т.р.</a:t>
            </a:r>
          </a:p>
          <a:p>
            <a:pPr>
              <a:lnSpc>
                <a:spcPct val="70000"/>
              </a:lnSpc>
            </a:pPr>
            <a:r>
              <a:rPr lang="ru-RU" sz="3200" i="0"/>
              <a:t>4 год ……………..250 т.р.</a:t>
            </a:r>
          </a:p>
          <a:p>
            <a:pPr>
              <a:lnSpc>
                <a:spcPct val="70000"/>
              </a:lnSpc>
            </a:pPr>
            <a:r>
              <a:rPr lang="ru-RU" sz="3200" i="0"/>
              <a:t>5 год ……………..300 т.р.</a:t>
            </a:r>
          </a:p>
        </p:txBody>
      </p:sp>
      <p:sp>
        <p:nvSpPr>
          <p:cNvPr id="120836" name="Text Box 4"/>
          <p:cNvSpPr txBox="1">
            <a:spLocks noChangeArrowheads="1"/>
          </p:cNvSpPr>
          <p:nvPr/>
        </p:nvSpPr>
        <p:spPr bwMode="auto">
          <a:xfrm>
            <a:off x="304800" y="3657600"/>
            <a:ext cx="8153400" cy="204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 i="0"/>
              <a:t>Для расчета срока окупаемости необходимо провести </a:t>
            </a:r>
            <a:r>
              <a:rPr lang="ru-RU" sz="3200" i="0">
                <a:solidFill>
                  <a:srgbClr val="FF3300"/>
                </a:solidFill>
              </a:rPr>
              <a:t>пошаговое суммирование </a:t>
            </a:r>
            <a:r>
              <a:rPr lang="ru-RU" sz="3200" i="0"/>
              <a:t>до тех пор, пока </a:t>
            </a:r>
            <a:r>
              <a:rPr lang="en-US" sz="3200" i="0"/>
              <a:t>NCF</a:t>
            </a:r>
            <a:r>
              <a:rPr lang="en-US" sz="3200" i="0" baseline="-25000">
                <a:cs typeface="Arial" charset="0"/>
              </a:rPr>
              <a:t>Σ </a:t>
            </a:r>
            <a:r>
              <a:rPr lang="ru-RU" sz="3200" i="0"/>
              <a:t>не станет = сумме инвестиций.</a:t>
            </a:r>
            <a:endParaRPr lang="ru-RU" sz="3200" i="0" baseline="-25000"/>
          </a:p>
        </p:txBody>
      </p:sp>
      <p:sp>
        <p:nvSpPr>
          <p:cNvPr id="120838" name="AutoShape 6"/>
          <p:cNvSpPr>
            <a:spLocks/>
          </p:cNvSpPr>
          <p:nvPr/>
        </p:nvSpPr>
        <p:spPr bwMode="auto">
          <a:xfrm>
            <a:off x="5486400" y="838200"/>
            <a:ext cx="685800" cy="2209800"/>
          </a:xfrm>
          <a:prstGeom prst="rightBrace">
            <a:avLst>
              <a:gd name="adj1" fmla="val 26852"/>
              <a:gd name="adj2" fmla="val 50000"/>
            </a:avLst>
          </a:prstGeom>
          <a:noFill/>
          <a:ln w="9525">
            <a:solidFill>
              <a:srgbClr val="0000CC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algn="ctr"/>
            <a:endParaRPr lang="ru-RU" sz="3200"/>
          </a:p>
        </p:txBody>
      </p:sp>
      <p:sp>
        <p:nvSpPr>
          <p:cNvPr id="120839" name="Rectangle 7"/>
          <p:cNvSpPr>
            <a:spLocks noChangeArrowheads="1"/>
          </p:cNvSpPr>
          <p:nvPr/>
        </p:nvSpPr>
        <p:spPr bwMode="auto">
          <a:xfrm>
            <a:off x="6172200" y="1600200"/>
            <a:ext cx="28400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i="0">
                <a:solidFill>
                  <a:srgbClr val="FF3300"/>
                </a:solidFill>
              </a:rPr>
              <a:t>NCF</a:t>
            </a:r>
            <a:r>
              <a:rPr lang="en-US" sz="3200" i="0" baseline="-25000">
                <a:solidFill>
                  <a:srgbClr val="FF3300"/>
                </a:solidFill>
                <a:cs typeface="Arial" charset="0"/>
              </a:rPr>
              <a:t>Σ</a:t>
            </a:r>
            <a:r>
              <a:rPr lang="ru-RU" sz="3200" i="0" baseline="-25000">
                <a:solidFill>
                  <a:srgbClr val="FF3300"/>
                </a:solidFill>
              </a:rPr>
              <a:t> </a:t>
            </a:r>
            <a:r>
              <a:rPr lang="ru-RU" sz="3200" i="0">
                <a:solidFill>
                  <a:srgbClr val="FF3300"/>
                </a:solidFill>
              </a:rPr>
              <a:t>=600т.р.</a:t>
            </a:r>
            <a:endParaRPr lang="ru-RU" sz="3200" i="0" baseline="-25000">
              <a:solidFill>
                <a:srgbClr val="FF3300"/>
              </a:solidFill>
            </a:endParaRPr>
          </a:p>
        </p:txBody>
      </p:sp>
    </p:spTree>
  </p:cSld>
  <p:clrMapOvr>
    <a:masterClrMapping/>
  </p:clrMapOvr>
  <p:transition spd="med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20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0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0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6" grpId="0" autoUpdateAnimBg="0"/>
      <p:bldP spid="120838" grpId="0" animBg="1" autoUpdateAnimBg="0"/>
      <p:bldP spid="120839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Text Box 3"/>
          <p:cNvSpPr txBox="1">
            <a:spLocks noChangeArrowheads="1"/>
          </p:cNvSpPr>
          <p:nvPr/>
        </p:nvSpPr>
        <p:spPr bwMode="auto">
          <a:xfrm>
            <a:off x="609600" y="609600"/>
            <a:ext cx="73914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 i="0" u="sng"/>
              <a:t>Частный случай:</a:t>
            </a:r>
          </a:p>
          <a:p>
            <a:r>
              <a:rPr lang="ru-RU" sz="3200" i="0"/>
              <a:t>Срок накопления суммы равной первоначальным инвестициям </a:t>
            </a:r>
            <a:r>
              <a:rPr lang="ru-RU" sz="3200" i="0">
                <a:solidFill>
                  <a:srgbClr val="F93833"/>
                </a:solidFill>
              </a:rPr>
              <a:t>не кратен целому числу лет.</a:t>
            </a:r>
          </a:p>
        </p:txBody>
      </p:sp>
      <p:sp>
        <p:nvSpPr>
          <p:cNvPr id="121860" name="Text Box 4"/>
          <p:cNvSpPr txBox="1">
            <a:spLocks noChangeArrowheads="1"/>
          </p:cNvSpPr>
          <p:nvPr/>
        </p:nvSpPr>
        <p:spPr bwMode="auto">
          <a:xfrm>
            <a:off x="334963" y="3124200"/>
            <a:ext cx="4724400" cy="2776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70000"/>
              </a:lnSpc>
            </a:pPr>
            <a:r>
              <a:rPr lang="en-US" sz="3200" i="0"/>
              <a:t>1 </a:t>
            </a:r>
            <a:r>
              <a:rPr lang="ru-RU" sz="3200" i="0"/>
              <a:t>год…………100 т.р.</a:t>
            </a:r>
          </a:p>
          <a:p>
            <a:pPr>
              <a:lnSpc>
                <a:spcPct val="70000"/>
              </a:lnSpc>
            </a:pPr>
            <a:r>
              <a:rPr lang="ru-RU" sz="3200" i="0"/>
              <a:t>2 год ………..150 т.р.</a:t>
            </a:r>
          </a:p>
          <a:p>
            <a:pPr>
              <a:lnSpc>
                <a:spcPct val="70000"/>
              </a:lnSpc>
            </a:pPr>
            <a:r>
              <a:rPr lang="ru-RU" sz="3200" i="0"/>
              <a:t>3 год ………..200 т.р.</a:t>
            </a:r>
          </a:p>
          <a:p>
            <a:pPr>
              <a:lnSpc>
                <a:spcPct val="70000"/>
              </a:lnSpc>
            </a:pPr>
            <a:r>
              <a:rPr lang="ru-RU" sz="3200" i="0"/>
              <a:t>4 год ………..300 т.р.</a:t>
            </a:r>
          </a:p>
          <a:p>
            <a:pPr>
              <a:lnSpc>
                <a:spcPct val="70000"/>
              </a:lnSpc>
            </a:pPr>
            <a:r>
              <a:rPr lang="ru-RU" sz="3200" i="0"/>
              <a:t>5 год ………..350 т.р.</a:t>
            </a:r>
          </a:p>
        </p:txBody>
      </p:sp>
      <p:sp>
        <p:nvSpPr>
          <p:cNvPr id="121862" name="Rectangle 6"/>
          <p:cNvSpPr>
            <a:spLocks noChangeArrowheads="1"/>
          </p:cNvSpPr>
          <p:nvPr/>
        </p:nvSpPr>
        <p:spPr bwMode="auto">
          <a:xfrm>
            <a:off x="5135563" y="3644900"/>
            <a:ext cx="396398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i="0">
                <a:cs typeface="Arial" charset="0"/>
              </a:rPr>
              <a:t>Σ</a:t>
            </a:r>
            <a:r>
              <a:rPr lang="en-US" sz="3200" i="0"/>
              <a:t>NCF</a:t>
            </a:r>
            <a:r>
              <a:rPr lang="ru-RU" sz="3200" i="0"/>
              <a:t> </a:t>
            </a:r>
            <a:r>
              <a:rPr lang="ru-RU" sz="3200" i="0" baseline="30000"/>
              <a:t>3</a:t>
            </a:r>
            <a:r>
              <a:rPr lang="ru-RU" sz="3200" i="0" baseline="-25000"/>
              <a:t> </a:t>
            </a:r>
            <a:r>
              <a:rPr lang="ru-RU" sz="3200" i="0" baseline="30000"/>
              <a:t>года</a:t>
            </a:r>
            <a:r>
              <a:rPr lang="ru-RU" sz="3200" i="0" baseline="-25000"/>
              <a:t> </a:t>
            </a:r>
            <a:r>
              <a:rPr lang="ru-RU" sz="3200" i="0"/>
              <a:t>= 450т.р.</a:t>
            </a:r>
          </a:p>
        </p:txBody>
      </p:sp>
      <p:sp>
        <p:nvSpPr>
          <p:cNvPr id="121865" name="Rectangle 9"/>
          <p:cNvSpPr>
            <a:spLocks noChangeArrowheads="1"/>
          </p:cNvSpPr>
          <p:nvPr/>
        </p:nvSpPr>
        <p:spPr bwMode="auto">
          <a:xfrm>
            <a:off x="4906963" y="4711700"/>
            <a:ext cx="396398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i="0">
                <a:cs typeface="Arial" charset="0"/>
              </a:rPr>
              <a:t>ΣN</a:t>
            </a:r>
            <a:r>
              <a:rPr lang="en-US" sz="3200" i="0"/>
              <a:t>CF</a:t>
            </a:r>
            <a:r>
              <a:rPr lang="ru-RU" sz="3200" i="0"/>
              <a:t> </a:t>
            </a:r>
            <a:r>
              <a:rPr lang="ru-RU" sz="3200" i="0" baseline="30000"/>
              <a:t>4</a:t>
            </a:r>
            <a:r>
              <a:rPr lang="ru-RU" sz="3200" i="0" baseline="-25000"/>
              <a:t> </a:t>
            </a:r>
            <a:r>
              <a:rPr lang="ru-RU" sz="3200" i="0" baseline="30000"/>
              <a:t>года</a:t>
            </a:r>
            <a:r>
              <a:rPr lang="ru-RU" sz="3200" i="0" baseline="-25000"/>
              <a:t> </a:t>
            </a:r>
            <a:r>
              <a:rPr lang="ru-RU" sz="3200" i="0"/>
              <a:t>= 750т.р.</a:t>
            </a:r>
          </a:p>
        </p:txBody>
      </p:sp>
      <p:sp>
        <p:nvSpPr>
          <p:cNvPr id="121867" name="AutoShape 11"/>
          <p:cNvSpPr>
            <a:spLocks/>
          </p:cNvSpPr>
          <p:nvPr/>
        </p:nvSpPr>
        <p:spPr bwMode="auto">
          <a:xfrm>
            <a:off x="4602163" y="3157538"/>
            <a:ext cx="533400" cy="1600200"/>
          </a:xfrm>
          <a:prstGeom prst="rightBrace">
            <a:avLst>
              <a:gd name="adj1" fmla="val 25000"/>
              <a:gd name="adj2" fmla="val 50000"/>
            </a:avLst>
          </a:prstGeom>
          <a:noFill/>
          <a:ln w="9525">
            <a:solidFill>
              <a:srgbClr val="F93833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sz="3200"/>
          </a:p>
        </p:txBody>
      </p:sp>
      <p:sp>
        <p:nvSpPr>
          <p:cNvPr id="121868" name="Line 12"/>
          <p:cNvSpPr>
            <a:spLocks noChangeShapeType="1"/>
          </p:cNvSpPr>
          <p:nvPr/>
        </p:nvSpPr>
        <p:spPr bwMode="auto">
          <a:xfrm>
            <a:off x="152400" y="5410200"/>
            <a:ext cx="8610600" cy="0"/>
          </a:xfrm>
          <a:prstGeom prst="line">
            <a:avLst/>
          </a:prstGeom>
          <a:noFill/>
          <a:ln w="57150">
            <a:solidFill>
              <a:srgbClr val="F93833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ru-RU"/>
          </a:p>
        </p:txBody>
      </p:sp>
    </p:spTree>
  </p:cSld>
  <p:clrMapOvr>
    <a:masterClrMapping/>
  </p:clrMapOvr>
  <p:transition spd="med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21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2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1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1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1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9" grpId="0" autoUpdateAnimBg="0"/>
      <p:bldP spid="121860" grpId="0" autoUpdateAnimBg="0"/>
      <p:bldP spid="121862" grpId="0" autoUpdateAnimBg="0"/>
      <p:bldP spid="121865" grpId="0" autoUpdateAnimBg="0"/>
      <p:bldP spid="121867" grpId="0" animBg="1"/>
      <p:bldP spid="12186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3" name="Text Box 3"/>
          <p:cNvSpPr txBox="1">
            <a:spLocks noChangeArrowheads="1"/>
          </p:cNvSpPr>
          <p:nvPr/>
        </p:nvSpPr>
        <p:spPr bwMode="auto">
          <a:xfrm>
            <a:off x="152400" y="533400"/>
            <a:ext cx="8534400" cy="2773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/>
            <a:r>
              <a:rPr lang="ru-RU" sz="3200" i="0" u="sng"/>
              <a:t>Необходимо:</a:t>
            </a:r>
          </a:p>
          <a:p>
            <a:pPr marL="342900" indent="-342900">
              <a:buClr>
                <a:srgbClr val="F9322D"/>
              </a:buClr>
              <a:buFontTx/>
              <a:buAutoNum type="arabicPeriod"/>
            </a:pPr>
            <a:r>
              <a:rPr lang="ru-RU" sz="3200" i="0"/>
              <a:t> Найти </a:t>
            </a:r>
            <a:r>
              <a:rPr lang="ru-RU" sz="3200" i="0" u="sng"/>
              <a:t>кумулятивную сумму</a:t>
            </a:r>
            <a:r>
              <a:rPr lang="ru-RU" sz="3200" i="0"/>
              <a:t> чистых денежных поступлений за </a:t>
            </a:r>
            <a:r>
              <a:rPr lang="ru-RU" sz="3200" i="0" u="sng"/>
              <a:t>целое число периодов </a:t>
            </a:r>
            <a:r>
              <a:rPr lang="ru-RU" sz="3200" i="0"/>
              <a:t>наиболее близкую к величине инвестиций, но </a:t>
            </a:r>
            <a:r>
              <a:rPr lang="ru-RU" sz="3200" i="0">
                <a:solidFill>
                  <a:srgbClr val="FF3300"/>
                </a:solidFill>
              </a:rPr>
              <a:t>МЕНЬШЕ </a:t>
            </a:r>
            <a:r>
              <a:rPr lang="ru-RU" sz="3200" i="0"/>
              <a:t>её.</a:t>
            </a:r>
          </a:p>
        </p:txBody>
      </p:sp>
      <p:sp>
        <p:nvSpPr>
          <p:cNvPr id="122884" name="Rectangle 4"/>
          <p:cNvSpPr>
            <a:spLocks noChangeArrowheads="1"/>
          </p:cNvSpPr>
          <p:nvPr/>
        </p:nvSpPr>
        <p:spPr bwMode="auto">
          <a:xfrm>
            <a:off x="381000" y="3505200"/>
            <a:ext cx="793908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i="0">
                <a:solidFill>
                  <a:srgbClr val="FF3300"/>
                </a:solidFill>
              </a:rPr>
              <a:t>3 </a:t>
            </a:r>
            <a:r>
              <a:rPr lang="ru-RU" sz="3200" i="0">
                <a:solidFill>
                  <a:srgbClr val="FF3300"/>
                </a:solidFill>
              </a:rPr>
              <a:t>года:     </a:t>
            </a:r>
            <a:r>
              <a:rPr lang="en-US" sz="3200" i="0">
                <a:solidFill>
                  <a:srgbClr val="FF3300"/>
                </a:solidFill>
                <a:cs typeface="Arial" charset="0"/>
              </a:rPr>
              <a:t>ΣN</a:t>
            </a:r>
            <a:r>
              <a:rPr lang="en-US" sz="3200" i="0">
                <a:solidFill>
                  <a:srgbClr val="FF3300"/>
                </a:solidFill>
              </a:rPr>
              <a:t>CF</a:t>
            </a:r>
            <a:r>
              <a:rPr lang="ru-RU" sz="3200" i="0">
                <a:solidFill>
                  <a:srgbClr val="FF3300"/>
                </a:solidFill>
              </a:rPr>
              <a:t> </a:t>
            </a:r>
            <a:r>
              <a:rPr lang="ru-RU" sz="3200" i="0" baseline="30000">
                <a:solidFill>
                  <a:srgbClr val="FF3300"/>
                </a:solidFill>
              </a:rPr>
              <a:t>3</a:t>
            </a:r>
            <a:r>
              <a:rPr lang="ru-RU" sz="3200" i="0" baseline="-25000">
                <a:solidFill>
                  <a:srgbClr val="FF3300"/>
                </a:solidFill>
              </a:rPr>
              <a:t> </a:t>
            </a:r>
            <a:r>
              <a:rPr lang="ru-RU" sz="3200" i="0" baseline="30000">
                <a:solidFill>
                  <a:srgbClr val="FF3300"/>
                </a:solidFill>
              </a:rPr>
              <a:t>года</a:t>
            </a:r>
            <a:r>
              <a:rPr lang="ru-RU" sz="3200" i="0" baseline="-25000">
                <a:solidFill>
                  <a:srgbClr val="FF3300"/>
                </a:solidFill>
              </a:rPr>
              <a:t> </a:t>
            </a:r>
            <a:r>
              <a:rPr lang="ru-RU" sz="3200" i="0">
                <a:solidFill>
                  <a:srgbClr val="FF3300"/>
                </a:solidFill>
              </a:rPr>
              <a:t>= 450 т.р. </a:t>
            </a:r>
            <a:r>
              <a:rPr lang="en-US" sz="3200" i="0">
                <a:solidFill>
                  <a:srgbClr val="FF3300"/>
                </a:solidFill>
              </a:rPr>
              <a:t>&lt; 600 </a:t>
            </a:r>
            <a:r>
              <a:rPr lang="ru-RU" sz="3200" i="0">
                <a:solidFill>
                  <a:srgbClr val="FF3300"/>
                </a:solidFill>
              </a:rPr>
              <a:t>т.р.</a:t>
            </a:r>
          </a:p>
        </p:txBody>
      </p:sp>
      <p:sp>
        <p:nvSpPr>
          <p:cNvPr id="122885" name="Rectangle 5"/>
          <p:cNvSpPr>
            <a:spLocks noChangeArrowheads="1"/>
          </p:cNvSpPr>
          <p:nvPr/>
        </p:nvSpPr>
        <p:spPr bwMode="auto">
          <a:xfrm>
            <a:off x="685800" y="5668963"/>
            <a:ext cx="726122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 i="0">
                <a:solidFill>
                  <a:srgbClr val="FF3300"/>
                </a:solidFill>
              </a:rPr>
              <a:t>I</a:t>
            </a:r>
            <a:r>
              <a:rPr lang="ru-RU" sz="3200" i="0" baseline="-25000">
                <a:solidFill>
                  <a:srgbClr val="FF3300"/>
                </a:solidFill>
              </a:rPr>
              <a:t>нп</a:t>
            </a:r>
            <a:r>
              <a:rPr lang="ru-RU" sz="3200" i="0">
                <a:solidFill>
                  <a:srgbClr val="FF3300"/>
                </a:solidFill>
              </a:rPr>
              <a:t> = 600 – 450 = 150</a:t>
            </a:r>
            <a:r>
              <a:rPr lang="en-US" sz="3200" i="0">
                <a:solidFill>
                  <a:srgbClr val="FF3300"/>
                </a:solidFill>
              </a:rPr>
              <a:t> </a:t>
            </a:r>
            <a:r>
              <a:rPr lang="ru-RU" sz="3200" i="0">
                <a:solidFill>
                  <a:srgbClr val="FF3300"/>
                </a:solidFill>
              </a:rPr>
              <a:t>т.р.</a:t>
            </a:r>
          </a:p>
        </p:txBody>
      </p:sp>
      <p:sp>
        <p:nvSpPr>
          <p:cNvPr id="122886" name="Text Box 6"/>
          <p:cNvSpPr txBox="1">
            <a:spLocks noChangeArrowheads="1"/>
          </p:cNvSpPr>
          <p:nvPr/>
        </p:nvSpPr>
        <p:spPr bwMode="auto">
          <a:xfrm>
            <a:off x="152400" y="4419600"/>
            <a:ext cx="89916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/>
            <a:r>
              <a:rPr lang="ru-RU" sz="3200" i="0">
                <a:solidFill>
                  <a:srgbClr val="FF3300"/>
                </a:solidFill>
              </a:rPr>
              <a:t>2.</a:t>
            </a:r>
            <a:r>
              <a:rPr lang="ru-RU" sz="3200" i="0"/>
              <a:t> Определить, какая часть суммы инвестиций осталась еще непокрытой</a:t>
            </a:r>
          </a:p>
        </p:txBody>
      </p:sp>
    </p:spTree>
  </p:cSld>
  <p:clrMapOvr>
    <a:masterClrMapping/>
  </p:clrMapOvr>
  <p:transition spd="med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22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2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22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22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3" grpId="0" autoUpdateAnimBg="0"/>
      <p:bldP spid="122884" grpId="0" autoUpdateAnimBg="0"/>
      <p:bldP spid="122885" grpId="0" autoUpdateAnimBg="0"/>
      <p:bldP spid="122886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Text Box 2"/>
          <p:cNvSpPr txBox="1">
            <a:spLocks noChangeArrowheads="1"/>
          </p:cNvSpPr>
          <p:nvPr/>
        </p:nvSpPr>
        <p:spPr bwMode="auto">
          <a:xfrm>
            <a:off x="152400" y="731838"/>
            <a:ext cx="8991600" cy="155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Clr>
                <a:srgbClr val="F9322D"/>
              </a:buClr>
            </a:pPr>
            <a:r>
              <a:rPr lang="ru-RU" sz="3200" i="0">
                <a:solidFill>
                  <a:srgbClr val="F9322D"/>
                </a:solidFill>
              </a:rPr>
              <a:t>3.</a:t>
            </a:r>
            <a:r>
              <a:rPr lang="ru-RU" sz="3200"/>
              <a:t> </a:t>
            </a:r>
            <a:r>
              <a:rPr lang="ru-RU" sz="3200" i="0"/>
              <a:t>Разделить непокрытый остаток суммы инвестиций на величину </a:t>
            </a:r>
            <a:r>
              <a:rPr lang="en-US" sz="3200" i="0"/>
              <a:t>NCF</a:t>
            </a:r>
            <a:r>
              <a:rPr lang="ru-RU" sz="3200" i="0"/>
              <a:t> в следующем периоде.</a:t>
            </a:r>
          </a:p>
        </p:txBody>
      </p:sp>
      <p:graphicFrame>
        <p:nvGraphicFramePr>
          <p:cNvPr id="123910" name="Object 6"/>
          <p:cNvGraphicFramePr>
            <a:graphicFrameLocks noChangeAspect="1"/>
          </p:cNvGraphicFramePr>
          <p:nvPr/>
        </p:nvGraphicFramePr>
        <p:xfrm>
          <a:off x="650875" y="3103563"/>
          <a:ext cx="5888038" cy="153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Формула" r:id="rId3" imgW="2298600" imgH="596880" progId="Equation.3">
                  <p:embed/>
                </p:oleObj>
              </mc:Choice>
              <mc:Fallback>
                <p:oleObj name="Формула" r:id="rId3" imgW="2298600" imgH="5968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875" y="3103563"/>
                        <a:ext cx="5888038" cy="1530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12" name="Text Box 8"/>
          <p:cNvSpPr txBox="1">
            <a:spLocks noChangeArrowheads="1"/>
          </p:cNvSpPr>
          <p:nvPr/>
        </p:nvSpPr>
        <p:spPr bwMode="auto">
          <a:xfrm>
            <a:off x="1066800" y="5562600"/>
            <a:ext cx="6934200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4800" i="0">
                <a:solidFill>
                  <a:srgbClr val="F93833"/>
                </a:solidFill>
                <a:latin typeface="Times New Roman" pitchFamily="18" charset="0"/>
              </a:rPr>
              <a:t>PBP = 3 + 0,5 = 3,5 </a:t>
            </a:r>
            <a:r>
              <a:rPr lang="ru-RU" sz="4800" i="0">
                <a:solidFill>
                  <a:srgbClr val="F93833"/>
                </a:solidFill>
                <a:latin typeface="Times New Roman" pitchFamily="18" charset="0"/>
              </a:rPr>
              <a:t>года</a:t>
            </a:r>
          </a:p>
        </p:txBody>
      </p:sp>
      <p:sp>
        <p:nvSpPr>
          <p:cNvPr id="123913" name="Text Box 9"/>
          <p:cNvSpPr txBox="1">
            <a:spLocks noChangeArrowheads="1"/>
          </p:cNvSpPr>
          <p:nvPr/>
        </p:nvSpPr>
        <p:spPr bwMode="auto">
          <a:xfrm>
            <a:off x="6477000" y="3459163"/>
            <a:ext cx="12954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 b="0" i="0">
                <a:solidFill>
                  <a:schemeClr val="tx1"/>
                </a:solidFill>
                <a:latin typeface="Times New Roman" pitchFamily="18" charset="0"/>
              </a:rPr>
              <a:t>года</a:t>
            </a:r>
          </a:p>
        </p:txBody>
      </p:sp>
      <p:sp>
        <p:nvSpPr>
          <p:cNvPr id="123914" name="Rectangle 10"/>
          <p:cNvSpPr>
            <a:spLocks noChangeArrowheads="1"/>
          </p:cNvSpPr>
          <p:nvPr/>
        </p:nvSpPr>
        <p:spPr bwMode="auto">
          <a:xfrm>
            <a:off x="3581400" y="2438400"/>
            <a:ext cx="5029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 i="0"/>
              <a:t>N</a:t>
            </a:r>
            <a:r>
              <a:rPr lang="ru-RU" sz="3200" i="0"/>
              <a:t>С</a:t>
            </a:r>
            <a:r>
              <a:rPr lang="en-US" sz="3200" i="0"/>
              <a:t>F </a:t>
            </a:r>
            <a:r>
              <a:rPr lang="en-US" sz="3200" i="0" baseline="-25000"/>
              <a:t>4</a:t>
            </a:r>
            <a:r>
              <a:rPr lang="ru-RU" sz="3200" i="0" baseline="-25000"/>
              <a:t> году </a:t>
            </a:r>
            <a:r>
              <a:rPr lang="en-US" sz="3200" i="0"/>
              <a:t>=</a:t>
            </a:r>
            <a:r>
              <a:rPr lang="ru-RU" sz="3200" i="0"/>
              <a:t> 300 т.р.</a:t>
            </a:r>
          </a:p>
        </p:txBody>
      </p:sp>
      <p:sp>
        <p:nvSpPr>
          <p:cNvPr id="123915" name="Rectangle 11"/>
          <p:cNvSpPr>
            <a:spLocks noChangeArrowheads="1"/>
          </p:cNvSpPr>
          <p:nvPr/>
        </p:nvSpPr>
        <p:spPr bwMode="auto">
          <a:xfrm>
            <a:off x="685800" y="2438400"/>
            <a:ext cx="3581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 i="0">
                <a:solidFill>
                  <a:srgbClr val="0033CC"/>
                </a:solidFill>
              </a:rPr>
              <a:t>I</a:t>
            </a:r>
            <a:r>
              <a:rPr lang="ru-RU" sz="3200" i="0" baseline="-25000">
                <a:solidFill>
                  <a:srgbClr val="0033CC"/>
                </a:solidFill>
              </a:rPr>
              <a:t>нп</a:t>
            </a:r>
            <a:r>
              <a:rPr lang="ru-RU" sz="3200" i="0">
                <a:solidFill>
                  <a:srgbClr val="0033CC"/>
                </a:solidFill>
              </a:rPr>
              <a:t> = 150</a:t>
            </a:r>
            <a:r>
              <a:rPr lang="en-US" sz="3200" i="0">
                <a:solidFill>
                  <a:srgbClr val="0033CC"/>
                </a:solidFill>
              </a:rPr>
              <a:t> </a:t>
            </a:r>
            <a:r>
              <a:rPr lang="ru-RU" sz="3200" i="0">
                <a:solidFill>
                  <a:srgbClr val="0033CC"/>
                </a:solidFill>
              </a:rPr>
              <a:t>т.р.</a:t>
            </a:r>
          </a:p>
        </p:txBody>
      </p:sp>
      <p:sp>
        <p:nvSpPr>
          <p:cNvPr id="3080" name="Text Box 12"/>
          <p:cNvSpPr txBox="1">
            <a:spLocks noChangeArrowheads="1"/>
          </p:cNvSpPr>
          <p:nvPr/>
        </p:nvSpPr>
        <p:spPr bwMode="auto">
          <a:xfrm>
            <a:off x="457200" y="4648200"/>
            <a:ext cx="84582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i="0"/>
              <a:t>d – </a:t>
            </a:r>
            <a:r>
              <a:rPr lang="ru-RU" sz="2800" i="0"/>
              <a:t>доля года, в течение которой остаток инвестиций будет покрыт.</a:t>
            </a:r>
          </a:p>
        </p:txBody>
      </p:sp>
    </p:spTree>
  </p:cSld>
  <p:clrMapOvr>
    <a:masterClrMapping/>
  </p:clrMapOvr>
  <p:transition spd="med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23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23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23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23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23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23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6" grpId="0" autoUpdateAnimBg="0"/>
      <p:bldP spid="123912" grpId="0" autoUpdateAnimBg="0"/>
      <p:bldP spid="123913" grpId="0" autoUpdateAnimBg="0"/>
      <p:bldP spid="123914" grpId="0" autoUpdateAnimBg="0"/>
      <p:bldP spid="123915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7028" name="Object 4"/>
          <p:cNvGraphicFramePr>
            <a:graphicFrameLocks noChangeAspect="1"/>
          </p:cNvGraphicFramePr>
          <p:nvPr/>
        </p:nvGraphicFramePr>
        <p:xfrm>
          <a:off x="990600" y="1600200"/>
          <a:ext cx="6840538" cy="277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072" name="Формула" r:id="rId3" imgW="1879560" imgH="761760" progId="">
                  <p:embed/>
                </p:oleObj>
              </mc:Choice>
              <mc:Fallback>
                <p:oleObj name="Формула" r:id="rId3" imgW="1879560" imgH="76176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600200"/>
                        <a:ext cx="6840538" cy="2776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" name="Rectangle 5"/>
          <p:cNvSpPr>
            <a:spLocks noChangeArrowheads="1"/>
          </p:cNvSpPr>
          <p:nvPr/>
        </p:nvSpPr>
        <p:spPr bwMode="auto">
          <a:xfrm>
            <a:off x="381000" y="958850"/>
            <a:ext cx="2590800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u="sng" dirty="0" smtClean="0">
                <a:solidFill>
                  <a:srgbClr val="F93833"/>
                </a:solidFill>
              </a:rPr>
              <a:t>Рассмотренный алгоритм  может быть представлен формулой</a:t>
            </a:r>
            <a:endParaRPr lang="ru-RU" sz="2000" u="sng" dirty="0">
              <a:solidFill>
                <a:srgbClr val="F93833"/>
              </a:solidFill>
            </a:endParaRPr>
          </a:p>
        </p:txBody>
      </p:sp>
      <p:sp>
        <p:nvSpPr>
          <p:cNvPr id="4100" name="Text Box 6"/>
          <p:cNvSpPr txBox="1">
            <a:spLocks noChangeArrowheads="1"/>
          </p:cNvSpPr>
          <p:nvPr/>
        </p:nvSpPr>
        <p:spPr bwMode="auto">
          <a:xfrm>
            <a:off x="457200" y="4648200"/>
            <a:ext cx="8458200" cy="1249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i="0"/>
              <a:t>t – </a:t>
            </a:r>
            <a:r>
              <a:rPr lang="ru-RU" sz="2400" i="0">
                <a:cs typeface="Times New Roman" pitchFamily="18" charset="0"/>
              </a:rPr>
              <a:t>шаг расчета, предшествующий моменту перекрытия инвестированного капитала кумулятивным чистым денежным потоком</a:t>
            </a:r>
            <a:endParaRPr lang="ru-RU" sz="2400" i="0"/>
          </a:p>
        </p:txBody>
      </p:sp>
    </p:spTree>
  </p:cSld>
  <p:clrMapOvr>
    <a:masterClrMapping/>
  </p:clrMapOvr>
  <p:transition spd="med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57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7"/>
          <p:cNvSpPr txBox="1">
            <a:spLocks noChangeArrowheads="1"/>
          </p:cNvSpPr>
          <p:nvPr/>
        </p:nvSpPr>
        <p:spPr bwMode="auto">
          <a:xfrm>
            <a:off x="304800" y="762000"/>
            <a:ext cx="6172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 i="0">
                <a:solidFill>
                  <a:srgbClr val="F93833"/>
                </a:solidFill>
              </a:rPr>
              <a:t>Преимущества </a:t>
            </a:r>
            <a:r>
              <a:rPr lang="en-US" sz="3200" i="0">
                <a:solidFill>
                  <a:srgbClr val="F93833"/>
                </a:solidFill>
              </a:rPr>
              <a:t>PBP</a:t>
            </a:r>
            <a:r>
              <a:rPr lang="ru-RU" sz="3200" i="0">
                <a:solidFill>
                  <a:srgbClr val="F93833"/>
                </a:solidFill>
              </a:rPr>
              <a:t>:</a:t>
            </a:r>
          </a:p>
        </p:txBody>
      </p:sp>
      <p:sp>
        <p:nvSpPr>
          <p:cNvPr id="55299" name="Text Box 8"/>
          <p:cNvSpPr txBox="1">
            <a:spLocks noChangeArrowheads="1"/>
          </p:cNvSpPr>
          <p:nvPr/>
        </p:nvSpPr>
        <p:spPr bwMode="auto">
          <a:xfrm>
            <a:off x="609600" y="1600200"/>
            <a:ext cx="5715000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70000"/>
              </a:lnSpc>
              <a:buClr>
                <a:srgbClr val="F93833"/>
              </a:buClr>
              <a:buFont typeface="Wingdings" pitchFamily="2" charset="2"/>
              <a:buChar char="q"/>
            </a:pPr>
            <a:r>
              <a:rPr lang="ru-RU" sz="3200" i="0"/>
              <a:t> наглядность,</a:t>
            </a:r>
          </a:p>
          <a:p>
            <a:pPr>
              <a:lnSpc>
                <a:spcPct val="70000"/>
              </a:lnSpc>
              <a:buClr>
                <a:srgbClr val="F93833"/>
              </a:buClr>
              <a:buFont typeface="Wingdings" pitchFamily="2" charset="2"/>
              <a:buChar char="q"/>
            </a:pPr>
            <a:r>
              <a:rPr lang="ru-RU" sz="3200" i="0"/>
              <a:t> простота расчета.</a:t>
            </a:r>
          </a:p>
        </p:txBody>
      </p:sp>
      <p:sp>
        <p:nvSpPr>
          <p:cNvPr id="55300" name="Text Box 9"/>
          <p:cNvSpPr txBox="1">
            <a:spLocks noChangeArrowheads="1"/>
          </p:cNvSpPr>
          <p:nvPr/>
        </p:nvSpPr>
        <p:spPr bwMode="auto">
          <a:xfrm>
            <a:off x="457200" y="3124200"/>
            <a:ext cx="6172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 i="0">
                <a:solidFill>
                  <a:srgbClr val="F93833"/>
                </a:solidFill>
              </a:rPr>
              <a:t>Недостатки </a:t>
            </a:r>
            <a:r>
              <a:rPr lang="en-US" sz="3200" i="0">
                <a:solidFill>
                  <a:srgbClr val="F93833"/>
                </a:solidFill>
              </a:rPr>
              <a:t>PBP</a:t>
            </a:r>
            <a:r>
              <a:rPr lang="ru-RU" sz="3200" i="0">
                <a:solidFill>
                  <a:srgbClr val="F93833"/>
                </a:solidFill>
              </a:rPr>
              <a:t>:</a:t>
            </a:r>
          </a:p>
        </p:txBody>
      </p:sp>
      <p:sp>
        <p:nvSpPr>
          <p:cNvPr id="55301" name="Text Box 10"/>
          <p:cNvSpPr txBox="1">
            <a:spLocks noChangeArrowheads="1"/>
          </p:cNvSpPr>
          <p:nvPr/>
        </p:nvSpPr>
        <p:spPr bwMode="auto">
          <a:xfrm>
            <a:off x="685800" y="4038600"/>
            <a:ext cx="7772400" cy="155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F93833"/>
              </a:buClr>
              <a:buFont typeface="Wingdings" pitchFamily="2" charset="2"/>
              <a:buChar char="q"/>
            </a:pPr>
            <a:r>
              <a:rPr lang="ru-RU" sz="3200" i="0"/>
              <a:t> отсутствие различия денежных потоков, возникающих в разные моменты времени.</a:t>
            </a:r>
          </a:p>
        </p:txBody>
      </p:sp>
    </p:spTree>
  </p:cSld>
  <p:clrMapOvr>
    <a:masterClrMapping/>
  </p:clrMapOvr>
  <p:transition spd="med">
    <p:strips dir="rd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609600"/>
            <a:ext cx="8610600" cy="1143000"/>
          </a:xfrm>
          <a:noFill/>
        </p:spPr>
        <p:txBody>
          <a:bodyPr/>
          <a:lstStyle/>
          <a:p>
            <a:pPr algn="ctr" eaLnBrk="1" hangingPunct="1"/>
            <a:r>
              <a:rPr lang="ru-RU" sz="4000" b="1" dirty="0" smtClean="0">
                <a:solidFill>
                  <a:srgbClr val="F93833"/>
                </a:solidFill>
              </a:rPr>
              <a:t>Метод средней нормы прибыли на инвестиции (</a:t>
            </a:r>
            <a:r>
              <a:rPr lang="en-US" sz="4000" b="1" dirty="0" smtClean="0">
                <a:solidFill>
                  <a:srgbClr val="F93833"/>
                </a:solidFill>
              </a:rPr>
              <a:t>ARR</a:t>
            </a:r>
            <a:r>
              <a:rPr lang="ru-RU" sz="4000" b="1" dirty="0" smtClean="0">
                <a:solidFill>
                  <a:srgbClr val="F93833"/>
                </a:solidFill>
              </a:rPr>
              <a:t>)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609600" y="3581400"/>
            <a:ext cx="8534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 i="0"/>
              <a:t>ANPr - </a:t>
            </a:r>
            <a:r>
              <a:rPr lang="ru-RU" sz="3200" i="0"/>
              <a:t>среднегодовая чистая прибыль; </a:t>
            </a:r>
          </a:p>
        </p:txBody>
      </p:sp>
      <p:graphicFrame>
        <p:nvGraphicFramePr>
          <p:cNvPr id="174080" name="Object 5"/>
          <p:cNvGraphicFramePr>
            <a:graphicFrameLocks noChangeAspect="1"/>
          </p:cNvGraphicFramePr>
          <p:nvPr/>
        </p:nvGraphicFramePr>
        <p:xfrm>
          <a:off x="2514600" y="2133600"/>
          <a:ext cx="3676650" cy="1236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95" name="Формула" r:id="rId3" imgW="1434960" imgH="482400" progId="Equation.3">
                  <p:embed/>
                </p:oleObj>
              </mc:Choice>
              <mc:Fallback>
                <p:oleObj name="Формула" r:id="rId3" imgW="1434960" imgH="482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133600"/>
                        <a:ext cx="3676650" cy="1236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" name="Text Box 8"/>
          <p:cNvSpPr txBox="1">
            <a:spLocks noChangeArrowheads="1"/>
          </p:cNvSpPr>
          <p:nvPr/>
        </p:nvSpPr>
        <p:spPr bwMode="auto">
          <a:xfrm>
            <a:off x="609600" y="4267200"/>
            <a:ext cx="8534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 i="0"/>
              <a:t>I – </a:t>
            </a:r>
            <a:r>
              <a:rPr lang="ru-RU" sz="3200" i="0"/>
              <a:t>сумма инвестиций;</a:t>
            </a:r>
          </a:p>
        </p:txBody>
      </p:sp>
      <p:sp>
        <p:nvSpPr>
          <p:cNvPr id="5126" name="Text Box 9"/>
          <p:cNvSpPr txBox="1">
            <a:spLocks noChangeArrowheads="1"/>
          </p:cNvSpPr>
          <p:nvPr/>
        </p:nvSpPr>
        <p:spPr bwMode="auto">
          <a:xfrm>
            <a:off x="609600" y="4983163"/>
            <a:ext cx="85344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 i="0"/>
              <a:t>Vrs – </a:t>
            </a:r>
            <a:r>
              <a:rPr lang="ru-RU" sz="3200" i="0"/>
              <a:t>ликвидационная стоимость</a:t>
            </a:r>
          </a:p>
        </p:txBody>
      </p:sp>
    </p:spTree>
  </p:cSld>
  <p:clrMapOvr>
    <a:masterClrMapping/>
  </p:clrMapOvr>
  <p:transition spd="med">
    <p:strips dir="rd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123" name="Group 99"/>
          <p:cNvGraphicFramePr>
            <a:graphicFrameLocks noGrp="1"/>
          </p:cNvGraphicFramePr>
          <p:nvPr/>
        </p:nvGraphicFramePr>
        <p:xfrm>
          <a:off x="381000" y="990600"/>
          <a:ext cx="8459788" cy="1996440"/>
        </p:xfrm>
        <a:graphic>
          <a:graphicData uri="http://schemas.openxmlformats.org/drawingml/2006/table">
            <a:tbl>
              <a:tblPr/>
              <a:tblGrid>
                <a:gridCol w="2743200"/>
                <a:gridCol w="914400"/>
                <a:gridCol w="1219200"/>
                <a:gridCol w="1219200"/>
                <a:gridCol w="1093788"/>
                <a:gridCol w="1270000"/>
              </a:tblGrid>
              <a:tr h="53340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Показатель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Год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457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Чистая прибыль, д.е.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628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2 339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2 732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3125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3 852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6347" name="Text Box 94"/>
          <p:cNvSpPr txBox="1">
            <a:spLocks noChangeArrowheads="1"/>
          </p:cNvSpPr>
          <p:nvPr/>
        </p:nvSpPr>
        <p:spPr bwMode="auto">
          <a:xfrm>
            <a:off x="304800" y="3200400"/>
            <a:ext cx="8763000" cy="308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800" i="0"/>
              <a:t>Инвестиции составляют </a:t>
            </a:r>
            <a:r>
              <a:rPr lang="ru-RU" sz="2800" i="0">
                <a:solidFill>
                  <a:srgbClr val="F9322D"/>
                </a:solidFill>
              </a:rPr>
              <a:t>13 000 д.е.</a:t>
            </a:r>
            <a:r>
              <a:rPr lang="ru-RU" sz="2800" i="0"/>
              <a:t> </a:t>
            </a:r>
          </a:p>
          <a:p>
            <a:r>
              <a:rPr lang="ru-RU" sz="2800" i="0"/>
              <a:t>Компания имеет основания полагать, что по истечении 5-ти лет она сможет продать оборудование за </a:t>
            </a:r>
            <a:r>
              <a:rPr lang="ru-RU" sz="2800" i="0">
                <a:solidFill>
                  <a:srgbClr val="F9322D"/>
                </a:solidFill>
              </a:rPr>
              <a:t>1 000 д.е</a:t>
            </a:r>
          </a:p>
          <a:p>
            <a:r>
              <a:rPr lang="ru-RU" sz="2800" i="0"/>
              <a:t>Необходимо рассчитать среднюю норму прибыли на инвестиции (</a:t>
            </a:r>
            <a:r>
              <a:rPr lang="en-US" sz="2800" i="0"/>
              <a:t>ARR).</a:t>
            </a:r>
            <a:endParaRPr lang="ru-RU" sz="2800" i="0"/>
          </a:p>
        </p:txBody>
      </p:sp>
      <p:sp>
        <p:nvSpPr>
          <p:cNvPr id="56348" name="Text Box 97"/>
          <p:cNvSpPr txBox="1">
            <a:spLocks noChangeArrowheads="1"/>
          </p:cNvSpPr>
          <p:nvPr/>
        </p:nvSpPr>
        <p:spPr bwMode="auto">
          <a:xfrm>
            <a:off x="457200" y="457200"/>
            <a:ext cx="3581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 i="0">
                <a:solidFill>
                  <a:srgbClr val="F9322D"/>
                </a:solidFill>
              </a:rPr>
              <a:t>Пример:</a:t>
            </a:r>
          </a:p>
        </p:txBody>
      </p:sp>
    </p:spTree>
  </p:cSld>
  <p:clrMapOvr>
    <a:masterClrMapping/>
  </p:clrMapOvr>
  <p:transition spd="med">
    <p:strips dir="rd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094" name="Object 46"/>
          <p:cNvGraphicFramePr>
            <a:graphicFrameLocks noChangeAspect="1"/>
          </p:cNvGraphicFramePr>
          <p:nvPr/>
        </p:nvGraphicFramePr>
        <p:xfrm>
          <a:off x="381000" y="1828800"/>
          <a:ext cx="8488363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34" name="Формула" r:id="rId3" imgW="3492360" imgH="495000" progId="Equation.3">
                  <p:embed/>
                </p:oleObj>
              </mc:Choice>
              <mc:Fallback>
                <p:oleObj name="Формула" r:id="rId3" imgW="3492360" imgH="49500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828800"/>
                        <a:ext cx="8488363" cy="1206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95" name="Object 47"/>
          <p:cNvGraphicFramePr>
            <a:graphicFrameLocks noChangeAspect="1"/>
          </p:cNvGraphicFramePr>
          <p:nvPr/>
        </p:nvGraphicFramePr>
        <p:xfrm>
          <a:off x="457200" y="4235450"/>
          <a:ext cx="7743825" cy="191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35" name="Формула" r:id="rId5" imgW="3022560" imgH="749160" progId="Equation.3">
                  <p:embed/>
                </p:oleObj>
              </mc:Choice>
              <mc:Fallback>
                <p:oleObj name="Формула" r:id="rId5" imgW="3022560" imgH="74916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235450"/>
                        <a:ext cx="7743825" cy="1919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96" name="Text Box 48"/>
          <p:cNvSpPr txBox="1">
            <a:spLocks noChangeArrowheads="1"/>
          </p:cNvSpPr>
          <p:nvPr/>
        </p:nvSpPr>
        <p:spPr bwMode="auto">
          <a:xfrm>
            <a:off x="2286000" y="5530850"/>
            <a:ext cx="2971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0" i="0">
                <a:solidFill>
                  <a:schemeClr val="tx1"/>
                </a:solidFill>
                <a:latin typeface="Times New Roman" pitchFamily="18" charset="0"/>
              </a:rPr>
              <a:t>или 42,26%</a:t>
            </a:r>
          </a:p>
        </p:txBody>
      </p:sp>
      <p:sp>
        <p:nvSpPr>
          <p:cNvPr id="130097" name="Text Box 49"/>
          <p:cNvSpPr txBox="1">
            <a:spLocks noChangeArrowheads="1"/>
          </p:cNvSpPr>
          <p:nvPr/>
        </p:nvSpPr>
        <p:spPr bwMode="auto">
          <a:xfrm>
            <a:off x="2133600" y="2362200"/>
            <a:ext cx="2971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0" i="0">
                <a:solidFill>
                  <a:schemeClr val="tx1"/>
                </a:solidFill>
                <a:latin typeface="Times New Roman" pitchFamily="18" charset="0"/>
              </a:rPr>
              <a:t>д.е.</a:t>
            </a:r>
          </a:p>
        </p:txBody>
      </p:sp>
      <p:sp>
        <p:nvSpPr>
          <p:cNvPr id="130098" name="Text Box 50"/>
          <p:cNvSpPr txBox="1">
            <a:spLocks noChangeArrowheads="1"/>
          </p:cNvSpPr>
          <p:nvPr/>
        </p:nvSpPr>
        <p:spPr bwMode="auto">
          <a:xfrm>
            <a:off x="304800" y="838200"/>
            <a:ext cx="8763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 i="0">
                <a:solidFill>
                  <a:srgbClr val="FF3300"/>
                </a:solidFill>
                <a:latin typeface="Times New Roman" pitchFamily="18" charset="0"/>
              </a:rPr>
              <a:t>Среднегодовая чистая прибыль по проекту:</a:t>
            </a:r>
          </a:p>
        </p:txBody>
      </p:sp>
      <p:sp>
        <p:nvSpPr>
          <p:cNvPr id="130099" name="Text Box 51"/>
          <p:cNvSpPr txBox="1">
            <a:spLocks noChangeArrowheads="1"/>
          </p:cNvSpPr>
          <p:nvPr/>
        </p:nvSpPr>
        <p:spPr bwMode="auto">
          <a:xfrm>
            <a:off x="304800" y="3321050"/>
            <a:ext cx="8763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 i="0">
                <a:solidFill>
                  <a:srgbClr val="FF3300"/>
                </a:solidFill>
                <a:latin typeface="Times New Roman" pitchFamily="18" charset="0"/>
              </a:rPr>
              <a:t>Средняя норма прибыли на инвестиции:</a:t>
            </a:r>
          </a:p>
        </p:txBody>
      </p:sp>
    </p:spTree>
  </p:cSld>
  <p:clrMapOvr>
    <a:masterClrMapping/>
  </p:clrMapOvr>
  <p:transition spd="med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30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30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130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130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130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130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96" grpId="0" autoUpdateAnimBg="0"/>
      <p:bldP spid="130097" grpId="0" autoUpdateAnimBg="0"/>
      <p:bldP spid="130098" grpId="0" autoUpdateAnimBg="0"/>
      <p:bldP spid="130099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99" name="Freeform 27"/>
          <p:cNvSpPr>
            <a:spLocks/>
          </p:cNvSpPr>
          <p:nvPr/>
        </p:nvSpPr>
        <p:spPr bwMode="auto">
          <a:xfrm>
            <a:off x="4810125" y="2495550"/>
            <a:ext cx="2895600" cy="914400"/>
          </a:xfrm>
          <a:custGeom>
            <a:avLst/>
            <a:gdLst>
              <a:gd name="T0" fmla="*/ 0 w 1824"/>
              <a:gd name="T1" fmla="*/ 576 h 576"/>
              <a:gd name="T2" fmla="*/ 1392 w 1824"/>
              <a:gd name="T3" fmla="*/ 144 h 576"/>
              <a:gd name="T4" fmla="*/ 1536 w 1824"/>
              <a:gd name="T5" fmla="*/ 96 h 576"/>
              <a:gd name="T6" fmla="*/ 1824 w 1824"/>
              <a:gd name="T7" fmla="*/ 0 h 576"/>
              <a:gd name="T8" fmla="*/ 816 w 1824"/>
              <a:gd name="T9" fmla="*/ 0 h 576"/>
              <a:gd name="T10" fmla="*/ 0 w 1824"/>
              <a:gd name="T11" fmla="*/ 576 h 57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824"/>
              <a:gd name="T19" fmla="*/ 0 h 576"/>
              <a:gd name="T20" fmla="*/ 1824 w 1824"/>
              <a:gd name="T21" fmla="*/ 576 h 57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824" h="576">
                <a:moveTo>
                  <a:pt x="0" y="576"/>
                </a:moveTo>
                <a:lnTo>
                  <a:pt x="1392" y="144"/>
                </a:lnTo>
                <a:lnTo>
                  <a:pt x="1536" y="96"/>
                </a:lnTo>
                <a:lnTo>
                  <a:pt x="1824" y="0"/>
                </a:lnTo>
                <a:lnTo>
                  <a:pt x="816" y="0"/>
                </a:lnTo>
                <a:lnTo>
                  <a:pt x="0" y="576"/>
                </a:ln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100000">
                <a:srgbClr val="FF0066"/>
              </a:gs>
            </a:gsLst>
            <a:lin ang="18900000" scaled="1"/>
          </a:gradFill>
          <a:ln w="9525">
            <a:noFill/>
            <a:round/>
            <a:headEnd/>
            <a:tailEnd/>
          </a:ln>
        </p:spPr>
        <p:txBody>
          <a:bodyPr>
            <a:spAutoFit/>
          </a:bodyPr>
          <a:lstStyle/>
          <a:p>
            <a:endParaRPr lang="ru-RU" sz="3200"/>
          </a:p>
        </p:txBody>
      </p:sp>
      <p:sp>
        <p:nvSpPr>
          <p:cNvPr id="57347" name="Rectangle 8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153400" cy="1371600"/>
          </a:xfrm>
        </p:spPr>
        <p:txBody>
          <a:bodyPr/>
          <a:lstStyle/>
          <a:p>
            <a:pPr algn="ctr" eaLnBrk="1" hangingPunct="1"/>
            <a:r>
              <a:rPr lang="ru-RU" sz="4000" b="1" smtClean="0">
                <a:solidFill>
                  <a:srgbClr val="F93833"/>
                </a:solidFill>
              </a:rPr>
              <a:t>Метод анализа точки безубыточности (</a:t>
            </a:r>
            <a:r>
              <a:rPr lang="en-US" sz="4000" b="1" smtClean="0">
                <a:solidFill>
                  <a:srgbClr val="F93833"/>
                </a:solidFill>
              </a:rPr>
              <a:t>BEP)</a:t>
            </a:r>
            <a:endParaRPr lang="ru-RU" sz="6000" smtClean="0">
              <a:solidFill>
                <a:srgbClr val="F93833"/>
              </a:solidFill>
            </a:endParaRPr>
          </a:p>
        </p:txBody>
      </p:sp>
      <p:sp>
        <p:nvSpPr>
          <p:cNvPr id="131081" name="Line 9"/>
          <p:cNvSpPr>
            <a:spLocks noChangeShapeType="1"/>
          </p:cNvSpPr>
          <p:nvPr/>
        </p:nvSpPr>
        <p:spPr bwMode="auto">
          <a:xfrm>
            <a:off x="1905000" y="5486400"/>
            <a:ext cx="5410200" cy="0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ru-RU"/>
          </a:p>
        </p:txBody>
      </p:sp>
      <p:sp>
        <p:nvSpPr>
          <p:cNvPr id="131083" name="Line 11"/>
          <p:cNvSpPr>
            <a:spLocks noChangeShapeType="1"/>
          </p:cNvSpPr>
          <p:nvPr/>
        </p:nvSpPr>
        <p:spPr bwMode="auto">
          <a:xfrm flipV="1">
            <a:off x="1905000" y="2057400"/>
            <a:ext cx="0" cy="3429000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ru-RU"/>
          </a:p>
        </p:txBody>
      </p:sp>
      <p:sp>
        <p:nvSpPr>
          <p:cNvPr id="131084" name="Line 12"/>
          <p:cNvSpPr>
            <a:spLocks noChangeShapeType="1"/>
          </p:cNvSpPr>
          <p:nvPr/>
        </p:nvSpPr>
        <p:spPr bwMode="auto">
          <a:xfrm>
            <a:off x="1905000" y="4343400"/>
            <a:ext cx="5257800" cy="0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ru-RU"/>
          </a:p>
        </p:txBody>
      </p:sp>
      <p:sp>
        <p:nvSpPr>
          <p:cNvPr id="131085" name="Line 13"/>
          <p:cNvSpPr>
            <a:spLocks noChangeShapeType="1"/>
          </p:cNvSpPr>
          <p:nvPr/>
        </p:nvSpPr>
        <p:spPr bwMode="auto">
          <a:xfrm flipV="1">
            <a:off x="1905000" y="3733800"/>
            <a:ext cx="5562600" cy="1733550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ru-RU"/>
          </a:p>
        </p:txBody>
      </p:sp>
      <p:sp>
        <p:nvSpPr>
          <p:cNvPr id="131087" name="Line 15"/>
          <p:cNvSpPr>
            <a:spLocks noChangeShapeType="1"/>
          </p:cNvSpPr>
          <p:nvPr/>
        </p:nvSpPr>
        <p:spPr bwMode="auto">
          <a:xfrm flipV="1">
            <a:off x="1905000" y="2514600"/>
            <a:ext cx="4191000" cy="2943225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ru-RU"/>
          </a:p>
        </p:txBody>
      </p:sp>
      <p:sp>
        <p:nvSpPr>
          <p:cNvPr id="131089" name="Line 17"/>
          <p:cNvSpPr>
            <a:spLocks noChangeShapeType="1"/>
          </p:cNvSpPr>
          <p:nvPr/>
        </p:nvSpPr>
        <p:spPr bwMode="auto">
          <a:xfrm flipV="1">
            <a:off x="1905000" y="2501900"/>
            <a:ext cx="5791200" cy="1828800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endParaRPr lang="ru-RU"/>
          </a:p>
        </p:txBody>
      </p:sp>
      <p:sp>
        <p:nvSpPr>
          <p:cNvPr id="131090" name="Text Box 18"/>
          <p:cNvSpPr txBox="1">
            <a:spLocks noChangeArrowheads="1"/>
          </p:cNvSpPr>
          <p:nvPr/>
        </p:nvSpPr>
        <p:spPr bwMode="auto">
          <a:xfrm>
            <a:off x="7315200" y="4038600"/>
            <a:ext cx="762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 dirty="0"/>
              <a:t>FC</a:t>
            </a:r>
            <a:endParaRPr lang="ru-RU" sz="3200" dirty="0"/>
          </a:p>
        </p:txBody>
      </p:sp>
      <p:sp>
        <p:nvSpPr>
          <p:cNvPr id="131091" name="Text Box 19"/>
          <p:cNvSpPr txBox="1">
            <a:spLocks noChangeArrowheads="1"/>
          </p:cNvSpPr>
          <p:nvPr/>
        </p:nvSpPr>
        <p:spPr bwMode="auto">
          <a:xfrm>
            <a:off x="7467600" y="3352800"/>
            <a:ext cx="1219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 dirty="0"/>
              <a:t>VC</a:t>
            </a:r>
            <a:endParaRPr lang="ru-RU" sz="3200" dirty="0"/>
          </a:p>
        </p:txBody>
      </p:sp>
      <p:sp>
        <p:nvSpPr>
          <p:cNvPr id="131092" name="Text Box 20"/>
          <p:cNvSpPr txBox="1">
            <a:spLocks noChangeArrowheads="1"/>
          </p:cNvSpPr>
          <p:nvPr/>
        </p:nvSpPr>
        <p:spPr bwMode="auto">
          <a:xfrm>
            <a:off x="7772400" y="2057400"/>
            <a:ext cx="762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 dirty="0"/>
              <a:t>TC</a:t>
            </a:r>
            <a:endParaRPr lang="ru-RU" sz="3200" dirty="0"/>
          </a:p>
        </p:txBody>
      </p:sp>
      <p:sp>
        <p:nvSpPr>
          <p:cNvPr id="131093" name="Text Box 21"/>
          <p:cNvSpPr txBox="1">
            <a:spLocks noChangeArrowheads="1"/>
          </p:cNvSpPr>
          <p:nvPr/>
        </p:nvSpPr>
        <p:spPr bwMode="auto">
          <a:xfrm>
            <a:off x="6096000" y="1981200"/>
            <a:ext cx="762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 dirty="0" smtClean="0"/>
              <a:t>R</a:t>
            </a:r>
            <a:endParaRPr lang="ru-RU" sz="3200" dirty="0"/>
          </a:p>
        </p:txBody>
      </p:sp>
      <p:sp>
        <p:nvSpPr>
          <p:cNvPr id="131094" name="Text Box 22"/>
          <p:cNvSpPr txBox="1">
            <a:spLocks noChangeArrowheads="1"/>
          </p:cNvSpPr>
          <p:nvPr/>
        </p:nvSpPr>
        <p:spPr bwMode="auto">
          <a:xfrm>
            <a:off x="6781800" y="5516563"/>
            <a:ext cx="131445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/>
              <a:t>Q</a:t>
            </a:r>
            <a:r>
              <a:rPr lang="ru-RU" sz="3200"/>
              <a:t>, ед.</a:t>
            </a:r>
          </a:p>
        </p:txBody>
      </p:sp>
      <p:sp>
        <p:nvSpPr>
          <p:cNvPr id="131095" name="Text Box 23"/>
          <p:cNvSpPr txBox="1">
            <a:spLocks noChangeArrowheads="1"/>
          </p:cNvSpPr>
          <p:nvPr/>
        </p:nvSpPr>
        <p:spPr bwMode="auto">
          <a:xfrm>
            <a:off x="381000" y="1981200"/>
            <a:ext cx="17526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/>
              <a:t>Затраты, доходы</a:t>
            </a:r>
          </a:p>
        </p:txBody>
      </p:sp>
      <p:sp>
        <p:nvSpPr>
          <p:cNvPr id="131098" name="Freeform 26"/>
          <p:cNvSpPr>
            <a:spLocks/>
          </p:cNvSpPr>
          <p:nvPr/>
        </p:nvSpPr>
        <p:spPr bwMode="auto">
          <a:xfrm>
            <a:off x="1917700" y="3473450"/>
            <a:ext cx="2787650" cy="1968500"/>
          </a:xfrm>
          <a:custGeom>
            <a:avLst/>
            <a:gdLst>
              <a:gd name="T0" fmla="*/ 4 w 1756"/>
              <a:gd name="T1" fmla="*/ 552 h 1240"/>
              <a:gd name="T2" fmla="*/ 0 w 1756"/>
              <a:gd name="T3" fmla="*/ 1240 h 1240"/>
              <a:gd name="T4" fmla="*/ 1756 w 1756"/>
              <a:gd name="T5" fmla="*/ 0 h 1240"/>
              <a:gd name="T6" fmla="*/ 4 w 1756"/>
              <a:gd name="T7" fmla="*/ 552 h 1240"/>
              <a:gd name="T8" fmla="*/ 0 60000 65536"/>
              <a:gd name="T9" fmla="*/ 0 60000 65536"/>
              <a:gd name="T10" fmla="*/ 0 60000 65536"/>
              <a:gd name="T11" fmla="*/ 0 60000 65536"/>
              <a:gd name="T12" fmla="*/ 0 w 1756"/>
              <a:gd name="T13" fmla="*/ 0 h 1240"/>
              <a:gd name="T14" fmla="*/ 1756 w 1756"/>
              <a:gd name="T15" fmla="*/ 1240 h 1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56" h="1240">
                <a:moveTo>
                  <a:pt x="4" y="552"/>
                </a:moveTo>
                <a:lnTo>
                  <a:pt x="0" y="1240"/>
                </a:lnTo>
                <a:lnTo>
                  <a:pt x="1756" y="0"/>
                </a:lnTo>
                <a:lnTo>
                  <a:pt x="4" y="552"/>
                </a:lnTo>
                <a:close/>
              </a:path>
            </a:pathLst>
          </a:custGeom>
          <a:gradFill rotWithShape="0">
            <a:gsLst>
              <a:gs pos="0">
                <a:srgbClr val="0033CC"/>
              </a:gs>
              <a:gs pos="100000">
                <a:srgbClr val="FFFFFF"/>
              </a:gs>
            </a:gsLst>
            <a:lin ang="18900000" scaled="1"/>
          </a:gradFill>
          <a:ln w="38100">
            <a:noFill/>
            <a:round/>
            <a:headEnd/>
            <a:tailEnd/>
          </a:ln>
        </p:spPr>
        <p:txBody>
          <a:bodyPr>
            <a:spAutoFit/>
          </a:bodyPr>
          <a:lstStyle/>
          <a:p>
            <a:endParaRPr lang="ru-RU" sz="3200"/>
          </a:p>
        </p:txBody>
      </p:sp>
      <p:sp>
        <p:nvSpPr>
          <p:cNvPr id="131100" name="Line 28"/>
          <p:cNvSpPr>
            <a:spLocks noChangeShapeType="1"/>
          </p:cNvSpPr>
          <p:nvPr/>
        </p:nvSpPr>
        <p:spPr bwMode="auto">
          <a:xfrm>
            <a:off x="4800600" y="3429000"/>
            <a:ext cx="0" cy="2057400"/>
          </a:xfrm>
          <a:prstGeom prst="line">
            <a:avLst/>
          </a:prstGeom>
          <a:noFill/>
          <a:ln w="19050">
            <a:solidFill>
              <a:srgbClr val="FF3300"/>
            </a:solidFill>
            <a:prstDash val="lgDash"/>
            <a:round/>
            <a:headEnd/>
            <a:tailEnd/>
          </a:ln>
        </p:spPr>
        <p:txBody>
          <a:bodyPr>
            <a:spAutoFit/>
          </a:bodyPr>
          <a:lstStyle/>
          <a:p>
            <a:endParaRPr lang="ru-RU"/>
          </a:p>
        </p:txBody>
      </p:sp>
      <p:sp>
        <p:nvSpPr>
          <p:cNvPr id="131101" name="Text Box 29"/>
          <p:cNvSpPr txBox="1">
            <a:spLocks noChangeArrowheads="1"/>
          </p:cNvSpPr>
          <p:nvPr/>
        </p:nvSpPr>
        <p:spPr bwMode="auto">
          <a:xfrm>
            <a:off x="4572000" y="5486400"/>
            <a:ext cx="1447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dirty="0"/>
              <a:t>Q </a:t>
            </a:r>
            <a:r>
              <a:rPr lang="ru-RU" sz="2000" dirty="0"/>
              <a:t>б</a:t>
            </a:r>
            <a:r>
              <a:rPr lang="en-US" sz="2000" dirty="0"/>
              <a:t>/</a:t>
            </a:r>
            <a:r>
              <a:rPr lang="ru-RU" sz="2000" dirty="0"/>
              <a:t>у</a:t>
            </a:r>
          </a:p>
        </p:txBody>
      </p:sp>
      <p:sp>
        <p:nvSpPr>
          <p:cNvPr id="131104" name="Line 32"/>
          <p:cNvSpPr>
            <a:spLocks noChangeShapeType="1"/>
          </p:cNvSpPr>
          <p:nvPr/>
        </p:nvSpPr>
        <p:spPr bwMode="auto">
          <a:xfrm>
            <a:off x="5334000" y="2590800"/>
            <a:ext cx="838200" cy="228600"/>
          </a:xfrm>
          <a:prstGeom prst="line">
            <a:avLst/>
          </a:prstGeom>
          <a:noFill/>
          <a:ln w="25400">
            <a:solidFill>
              <a:srgbClr val="FF3300"/>
            </a:solidFill>
            <a:prstDash val="dash"/>
            <a:round/>
            <a:headEnd/>
            <a:tailEnd type="stealth" w="med" len="med"/>
          </a:ln>
        </p:spPr>
        <p:txBody>
          <a:bodyPr>
            <a:spAutoFit/>
          </a:bodyPr>
          <a:lstStyle/>
          <a:p>
            <a:endParaRPr lang="ru-RU"/>
          </a:p>
        </p:txBody>
      </p:sp>
      <p:sp>
        <p:nvSpPr>
          <p:cNvPr id="131105" name="Line 33"/>
          <p:cNvSpPr>
            <a:spLocks noChangeShapeType="1"/>
          </p:cNvSpPr>
          <p:nvPr/>
        </p:nvSpPr>
        <p:spPr bwMode="auto">
          <a:xfrm>
            <a:off x="2895600" y="3276600"/>
            <a:ext cx="457200" cy="838200"/>
          </a:xfrm>
          <a:prstGeom prst="line">
            <a:avLst/>
          </a:prstGeom>
          <a:noFill/>
          <a:ln w="25400">
            <a:solidFill>
              <a:srgbClr val="0033CC"/>
            </a:solidFill>
            <a:prstDash val="dash"/>
            <a:round/>
            <a:headEnd/>
            <a:tailEnd type="stealth" w="med" len="med"/>
          </a:ln>
        </p:spPr>
        <p:txBody>
          <a:bodyPr>
            <a:spAutoFit/>
          </a:bodyPr>
          <a:lstStyle/>
          <a:p>
            <a:endParaRPr lang="ru-RU"/>
          </a:p>
        </p:txBody>
      </p:sp>
      <p:sp>
        <p:nvSpPr>
          <p:cNvPr id="131106" name="Oval 34"/>
          <p:cNvSpPr>
            <a:spLocks noChangeArrowheads="1"/>
          </p:cNvSpPr>
          <p:nvPr/>
        </p:nvSpPr>
        <p:spPr bwMode="auto">
          <a:xfrm>
            <a:off x="3886200" y="1981200"/>
            <a:ext cx="1589088" cy="812800"/>
          </a:xfrm>
          <a:prstGeom prst="ellipse">
            <a:avLst/>
          </a:prstGeom>
          <a:noFill/>
          <a:ln w="28575">
            <a:solidFill>
              <a:srgbClr val="FF3300"/>
            </a:solidFill>
            <a:prstDash val="dash"/>
            <a:round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ru-RU" sz="1600"/>
              <a:t>Зона прибыли</a:t>
            </a:r>
          </a:p>
        </p:txBody>
      </p:sp>
      <p:sp>
        <p:nvSpPr>
          <p:cNvPr id="131107" name="Oval 35"/>
          <p:cNvSpPr>
            <a:spLocks noChangeArrowheads="1"/>
          </p:cNvSpPr>
          <p:nvPr/>
        </p:nvSpPr>
        <p:spPr bwMode="auto">
          <a:xfrm>
            <a:off x="2133600" y="2463800"/>
            <a:ext cx="1589088" cy="812800"/>
          </a:xfrm>
          <a:prstGeom prst="ellipse">
            <a:avLst/>
          </a:prstGeom>
          <a:noFill/>
          <a:ln w="28575">
            <a:solidFill>
              <a:srgbClr val="0033CC"/>
            </a:solidFill>
            <a:prstDash val="dash"/>
            <a:round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ru-RU" sz="1600"/>
              <a:t>Зона убытков</a:t>
            </a:r>
          </a:p>
        </p:txBody>
      </p:sp>
    </p:spTree>
  </p:cSld>
  <p:clrMapOvr>
    <a:masterClrMapping/>
  </p:clrMapOvr>
  <p:transition spd="med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1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31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131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131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1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1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10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10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131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131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131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0" dur="500"/>
                                        <p:tgtEl>
                                          <p:spTgt spid="131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131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9" dur="500"/>
                                        <p:tgtEl>
                                          <p:spTgt spid="131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31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8" dur="500"/>
                                        <p:tgtEl>
                                          <p:spTgt spid="131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3" dur="500"/>
                                        <p:tgtEl>
                                          <p:spTgt spid="131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7" dur="500"/>
                                        <p:tgtEl>
                                          <p:spTgt spid="131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2" dur="500"/>
                                        <p:tgtEl>
                                          <p:spTgt spid="131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6" dur="500"/>
                                        <p:tgtEl>
                                          <p:spTgt spid="131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1" dur="500"/>
                                        <p:tgtEl>
                                          <p:spTgt spid="131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5" dur="500"/>
                                        <p:tgtEl>
                                          <p:spTgt spid="131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99" grpId="0" animBg="1"/>
      <p:bldP spid="131081" grpId="0" animBg="1"/>
      <p:bldP spid="131083" grpId="0" animBg="1"/>
      <p:bldP spid="131084" grpId="0" animBg="1"/>
      <p:bldP spid="131085" grpId="0" animBg="1"/>
      <p:bldP spid="131087" grpId="0" animBg="1"/>
      <p:bldP spid="131089" grpId="0" animBg="1"/>
      <p:bldP spid="131090" grpId="0" autoUpdateAnimBg="0"/>
      <p:bldP spid="131091" grpId="0" autoUpdateAnimBg="0"/>
      <p:bldP spid="131092" grpId="0" autoUpdateAnimBg="0"/>
      <p:bldP spid="131093" grpId="0" autoUpdateAnimBg="0"/>
      <p:bldP spid="131094" grpId="0" autoUpdateAnimBg="0"/>
      <p:bldP spid="131095" grpId="0" autoUpdateAnimBg="0"/>
      <p:bldP spid="131098" grpId="0" animBg="1"/>
      <p:bldP spid="131100" grpId="0" animBg="1"/>
      <p:bldP spid="131101" grpId="0" autoUpdateAnimBg="0"/>
      <p:bldP spid="131104" grpId="0" animBg="1"/>
      <p:bldP spid="131105" grpId="0" animBg="1"/>
      <p:bldP spid="131106" grpId="0" animBg="1" autoUpdateAnimBg="0"/>
      <p:bldP spid="131107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FC</a:t>
            </a:r>
            <a:r>
              <a:rPr lang="ru-RU" dirty="0" smtClean="0"/>
              <a:t> (</a:t>
            </a:r>
            <a:r>
              <a:rPr lang="en-US" dirty="0" smtClean="0"/>
              <a:t>Fixed Cost)</a:t>
            </a:r>
            <a:r>
              <a:rPr lang="ru-RU" dirty="0" smtClean="0"/>
              <a:t>-постоянные затраты</a:t>
            </a:r>
          </a:p>
          <a:p>
            <a:r>
              <a:rPr lang="en-US" dirty="0" smtClean="0"/>
              <a:t>VC</a:t>
            </a:r>
            <a:r>
              <a:rPr lang="ru-RU" dirty="0" smtClean="0"/>
              <a:t> (</a:t>
            </a:r>
            <a:r>
              <a:rPr lang="en-US" dirty="0" smtClean="0"/>
              <a:t>Variable Cost) –</a:t>
            </a:r>
            <a:r>
              <a:rPr lang="ru-RU" dirty="0" smtClean="0"/>
              <a:t>переменные затраты</a:t>
            </a:r>
          </a:p>
          <a:p>
            <a:r>
              <a:rPr lang="en-US" dirty="0" smtClean="0"/>
              <a:t>TC</a:t>
            </a:r>
            <a:r>
              <a:rPr lang="ru-RU" dirty="0" smtClean="0"/>
              <a:t> (</a:t>
            </a:r>
            <a:r>
              <a:rPr lang="en-US" dirty="0" smtClean="0"/>
              <a:t>Total Cost)</a:t>
            </a:r>
            <a:r>
              <a:rPr lang="ru-RU" dirty="0" smtClean="0"/>
              <a:t>-общие затраты</a:t>
            </a:r>
          </a:p>
          <a:p>
            <a:r>
              <a:rPr lang="en-US" dirty="0" smtClean="0"/>
              <a:t>R</a:t>
            </a:r>
            <a:r>
              <a:rPr lang="ru-RU" dirty="0" smtClean="0"/>
              <a:t> (</a:t>
            </a:r>
            <a:r>
              <a:rPr lang="en-US" dirty="0" smtClean="0"/>
              <a:t>Revenue) </a:t>
            </a:r>
            <a:r>
              <a:rPr lang="ru-RU" dirty="0" smtClean="0"/>
              <a:t>–выручка от реализации</a:t>
            </a:r>
          </a:p>
          <a:p>
            <a:r>
              <a:rPr lang="ru-RU" dirty="0" smtClean="0"/>
              <a:t> </a:t>
            </a:r>
            <a:r>
              <a:rPr lang="en-US" sz="4400" dirty="0" smtClean="0"/>
              <a:t>Q </a:t>
            </a:r>
            <a:r>
              <a:rPr lang="ru-RU" dirty="0" smtClean="0"/>
              <a:t>б</a:t>
            </a:r>
            <a:r>
              <a:rPr lang="en-US" dirty="0" smtClean="0"/>
              <a:t>/</a:t>
            </a:r>
            <a:r>
              <a:rPr lang="ru-RU" dirty="0" smtClean="0"/>
              <a:t>у (</a:t>
            </a:r>
            <a:r>
              <a:rPr lang="en-US" dirty="0" smtClean="0"/>
              <a:t>Quantity)</a:t>
            </a:r>
            <a:r>
              <a:rPr lang="ru-RU" dirty="0" smtClean="0"/>
              <a:t>-критический объем продаж (точка безубыточности)</a:t>
            </a:r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ransition spd="med">
    <p:strips dir="r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Text Box 2"/>
          <p:cNvSpPr txBox="1">
            <a:spLocks noChangeArrowheads="1"/>
          </p:cNvSpPr>
          <p:nvPr/>
        </p:nvSpPr>
        <p:spPr bwMode="auto">
          <a:xfrm>
            <a:off x="4724400" y="1249363"/>
            <a:ext cx="23622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/>
              <a:t>TR = Q*P</a:t>
            </a:r>
            <a:endParaRPr lang="ru-RU" sz="3200"/>
          </a:p>
        </p:txBody>
      </p:sp>
      <p:sp>
        <p:nvSpPr>
          <p:cNvPr id="132099" name="Text Box 3"/>
          <p:cNvSpPr txBox="1">
            <a:spLocks noChangeArrowheads="1"/>
          </p:cNvSpPr>
          <p:nvPr/>
        </p:nvSpPr>
        <p:spPr bwMode="auto">
          <a:xfrm>
            <a:off x="685800" y="1249363"/>
            <a:ext cx="35814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/>
              <a:t>TC = FC + VC</a:t>
            </a:r>
            <a:endParaRPr lang="ru-RU" sz="3200"/>
          </a:p>
        </p:txBody>
      </p:sp>
      <p:sp>
        <p:nvSpPr>
          <p:cNvPr id="132100" name="Text Box 4"/>
          <p:cNvSpPr txBox="1">
            <a:spLocks noChangeArrowheads="1"/>
          </p:cNvSpPr>
          <p:nvPr/>
        </p:nvSpPr>
        <p:spPr bwMode="auto">
          <a:xfrm>
            <a:off x="685800" y="1782763"/>
            <a:ext cx="32004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/>
              <a:t>VC = AVC*Q </a:t>
            </a:r>
            <a:endParaRPr lang="ru-RU" sz="3200"/>
          </a:p>
        </p:txBody>
      </p:sp>
      <p:sp>
        <p:nvSpPr>
          <p:cNvPr id="132101" name="Text Box 5"/>
          <p:cNvSpPr txBox="1">
            <a:spLocks noChangeArrowheads="1"/>
          </p:cNvSpPr>
          <p:nvPr/>
        </p:nvSpPr>
        <p:spPr bwMode="auto">
          <a:xfrm>
            <a:off x="381000" y="2667000"/>
            <a:ext cx="4114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/>
              <a:t>TC = FC + AVC*Q</a:t>
            </a:r>
            <a:endParaRPr lang="ru-RU" sz="3200"/>
          </a:p>
        </p:txBody>
      </p:sp>
      <p:sp>
        <p:nvSpPr>
          <p:cNvPr id="132102" name="Text Box 6"/>
          <p:cNvSpPr txBox="1">
            <a:spLocks noChangeArrowheads="1"/>
          </p:cNvSpPr>
          <p:nvPr/>
        </p:nvSpPr>
        <p:spPr bwMode="auto">
          <a:xfrm>
            <a:off x="457200" y="4800600"/>
            <a:ext cx="4114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/>
              <a:t>Q*P</a:t>
            </a:r>
            <a:r>
              <a:rPr lang="ru-RU" sz="3200"/>
              <a:t> = </a:t>
            </a:r>
            <a:r>
              <a:rPr lang="en-US" sz="3200"/>
              <a:t>FC + AVC*Q </a:t>
            </a:r>
            <a:endParaRPr lang="ru-RU" sz="3200"/>
          </a:p>
        </p:txBody>
      </p:sp>
      <p:sp>
        <p:nvSpPr>
          <p:cNvPr id="132104" name="Text Box 8"/>
          <p:cNvSpPr txBox="1">
            <a:spLocks noChangeArrowheads="1"/>
          </p:cNvSpPr>
          <p:nvPr/>
        </p:nvSpPr>
        <p:spPr bwMode="auto">
          <a:xfrm>
            <a:off x="838200" y="563563"/>
            <a:ext cx="28956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 u="sng">
                <a:solidFill>
                  <a:srgbClr val="0033CC"/>
                </a:solidFill>
              </a:rPr>
              <a:t>Затраты:</a:t>
            </a:r>
          </a:p>
        </p:txBody>
      </p:sp>
      <p:sp>
        <p:nvSpPr>
          <p:cNvPr id="132105" name="Text Box 9"/>
          <p:cNvSpPr txBox="1">
            <a:spLocks noChangeArrowheads="1"/>
          </p:cNvSpPr>
          <p:nvPr/>
        </p:nvSpPr>
        <p:spPr bwMode="auto">
          <a:xfrm>
            <a:off x="4876800" y="639763"/>
            <a:ext cx="31242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 u="sng">
                <a:solidFill>
                  <a:srgbClr val="0033CC"/>
                </a:solidFill>
              </a:rPr>
              <a:t>Доходы:</a:t>
            </a:r>
          </a:p>
        </p:txBody>
      </p:sp>
      <p:sp>
        <p:nvSpPr>
          <p:cNvPr id="132106" name="Text Box 10"/>
          <p:cNvSpPr txBox="1">
            <a:spLocks noChangeArrowheads="1"/>
          </p:cNvSpPr>
          <p:nvPr/>
        </p:nvSpPr>
        <p:spPr bwMode="auto">
          <a:xfrm>
            <a:off x="4419600" y="3962400"/>
            <a:ext cx="2590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/>
              <a:t>TR</a:t>
            </a:r>
            <a:r>
              <a:rPr lang="ru-RU" sz="3200"/>
              <a:t> = </a:t>
            </a:r>
            <a:r>
              <a:rPr lang="en-US" sz="3200"/>
              <a:t>TC</a:t>
            </a:r>
            <a:endParaRPr lang="ru-RU" sz="3200"/>
          </a:p>
        </p:txBody>
      </p:sp>
      <p:sp>
        <p:nvSpPr>
          <p:cNvPr id="132109" name="AutoShape 13"/>
          <p:cNvSpPr>
            <a:spLocks/>
          </p:cNvSpPr>
          <p:nvPr/>
        </p:nvSpPr>
        <p:spPr bwMode="auto">
          <a:xfrm rot="5400000">
            <a:off x="1752600" y="1143000"/>
            <a:ext cx="457200" cy="2590800"/>
          </a:xfrm>
          <a:prstGeom prst="rightBrace">
            <a:avLst>
              <a:gd name="adj1" fmla="val 47222"/>
              <a:gd name="adj2" fmla="val 50000"/>
            </a:avLst>
          </a:prstGeom>
          <a:noFill/>
          <a:ln w="38100">
            <a:solidFill>
              <a:srgbClr val="FF0066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ru-RU" sz="3200"/>
          </a:p>
        </p:txBody>
      </p:sp>
      <p:sp>
        <p:nvSpPr>
          <p:cNvPr id="132110" name="Text Box 14"/>
          <p:cNvSpPr txBox="1">
            <a:spLocks noChangeArrowheads="1"/>
          </p:cNvSpPr>
          <p:nvPr/>
        </p:nvSpPr>
        <p:spPr bwMode="auto">
          <a:xfrm>
            <a:off x="381000" y="3489325"/>
            <a:ext cx="85344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>
                <a:solidFill>
                  <a:srgbClr val="FF3300"/>
                </a:solidFill>
              </a:rPr>
              <a:t>Точка безубыточности</a:t>
            </a:r>
            <a:r>
              <a:rPr lang="ru-RU" sz="2400"/>
              <a:t> </a:t>
            </a:r>
            <a:r>
              <a:rPr lang="ru-RU" sz="2800"/>
              <a:t>– это объем продаж, при котором </a:t>
            </a:r>
          </a:p>
        </p:txBody>
      </p:sp>
      <p:sp>
        <p:nvSpPr>
          <p:cNvPr id="132111" name="Text Box 15"/>
          <p:cNvSpPr txBox="1">
            <a:spLocks noChangeArrowheads="1"/>
          </p:cNvSpPr>
          <p:nvPr/>
        </p:nvSpPr>
        <p:spPr bwMode="auto">
          <a:xfrm>
            <a:off x="457200" y="5440363"/>
            <a:ext cx="41148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/>
              <a:t>Q*</a:t>
            </a:r>
            <a:r>
              <a:rPr lang="ru-RU" sz="3200"/>
              <a:t>(</a:t>
            </a:r>
            <a:r>
              <a:rPr lang="en-US" sz="3200"/>
              <a:t>P</a:t>
            </a:r>
            <a:r>
              <a:rPr lang="ru-RU" sz="3200"/>
              <a:t> – </a:t>
            </a:r>
            <a:r>
              <a:rPr lang="en-US" sz="3200"/>
              <a:t>AVC)</a:t>
            </a:r>
            <a:r>
              <a:rPr lang="ru-RU" sz="3200"/>
              <a:t> = </a:t>
            </a:r>
            <a:r>
              <a:rPr lang="en-US" sz="3200"/>
              <a:t>FC </a:t>
            </a:r>
            <a:endParaRPr lang="ru-RU" sz="3200"/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4724400" y="4648200"/>
            <a:ext cx="3657600" cy="1524000"/>
            <a:chOff x="2976" y="2928"/>
            <a:chExt cx="2304" cy="960"/>
          </a:xfrm>
        </p:grpSpPr>
        <p:sp>
          <p:nvSpPr>
            <p:cNvPr id="58382" name="Text Box 17"/>
            <p:cNvSpPr txBox="1">
              <a:spLocks noChangeArrowheads="1"/>
            </p:cNvSpPr>
            <p:nvPr/>
          </p:nvSpPr>
          <p:spPr bwMode="auto">
            <a:xfrm>
              <a:off x="2976" y="3216"/>
              <a:ext cx="100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3200">
                  <a:solidFill>
                    <a:srgbClr val="FF3300"/>
                  </a:solidFill>
                </a:rPr>
                <a:t>Q </a:t>
              </a:r>
              <a:r>
                <a:rPr lang="ru-RU" sz="2000">
                  <a:solidFill>
                    <a:srgbClr val="FF3300"/>
                  </a:solidFill>
                </a:rPr>
                <a:t>б</a:t>
              </a:r>
              <a:r>
                <a:rPr lang="en-US" sz="2000">
                  <a:solidFill>
                    <a:srgbClr val="FF3300"/>
                  </a:solidFill>
                </a:rPr>
                <a:t>/</a:t>
              </a:r>
              <a:r>
                <a:rPr lang="ru-RU" sz="2000">
                  <a:solidFill>
                    <a:srgbClr val="FF3300"/>
                  </a:solidFill>
                </a:rPr>
                <a:t>у</a:t>
              </a:r>
              <a:r>
                <a:rPr lang="en-US" sz="3200">
                  <a:solidFill>
                    <a:srgbClr val="FF3300"/>
                  </a:solidFill>
                </a:rPr>
                <a:t> </a:t>
              </a:r>
              <a:r>
                <a:rPr lang="ru-RU" sz="3200">
                  <a:solidFill>
                    <a:srgbClr val="FF3300"/>
                  </a:solidFill>
                </a:rPr>
                <a:t>=</a:t>
              </a:r>
            </a:p>
          </p:txBody>
        </p:sp>
        <p:sp>
          <p:nvSpPr>
            <p:cNvPr id="58383" name="Text Box 18"/>
            <p:cNvSpPr txBox="1">
              <a:spLocks noChangeArrowheads="1"/>
            </p:cNvSpPr>
            <p:nvPr/>
          </p:nvSpPr>
          <p:spPr bwMode="auto">
            <a:xfrm>
              <a:off x="4176" y="2976"/>
              <a:ext cx="52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3200">
                  <a:solidFill>
                    <a:srgbClr val="FF3300"/>
                  </a:solidFill>
                </a:rPr>
                <a:t>FC</a:t>
              </a:r>
              <a:endParaRPr lang="ru-RU" sz="3200">
                <a:solidFill>
                  <a:srgbClr val="FF3300"/>
                </a:solidFill>
              </a:endParaRPr>
            </a:p>
          </p:txBody>
        </p:sp>
        <p:sp>
          <p:nvSpPr>
            <p:cNvPr id="58384" name="Line 19"/>
            <p:cNvSpPr>
              <a:spLocks noChangeShapeType="1"/>
            </p:cNvSpPr>
            <p:nvPr/>
          </p:nvSpPr>
          <p:spPr bwMode="auto">
            <a:xfrm>
              <a:off x="3888" y="3360"/>
              <a:ext cx="134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ru-RU"/>
            </a:p>
          </p:txBody>
        </p:sp>
        <p:sp>
          <p:nvSpPr>
            <p:cNvPr id="58385" name="Rectangle 20"/>
            <p:cNvSpPr>
              <a:spLocks noChangeArrowheads="1"/>
            </p:cNvSpPr>
            <p:nvPr/>
          </p:nvSpPr>
          <p:spPr bwMode="auto">
            <a:xfrm>
              <a:off x="3831" y="3360"/>
              <a:ext cx="1183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3200">
                  <a:solidFill>
                    <a:srgbClr val="FF3300"/>
                  </a:solidFill>
                </a:rPr>
                <a:t>P</a:t>
              </a:r>
              <a:r>
                <a:rPr lang="ru-RU" sz="3200">
                  <a:solidFill>
                    <a:srgbClr val="FF3300"/>
                  </a:solidFill>
                </a:rPr>
                <a:t> – </a:t>
              </a:r>
              <a:r>
                <a:rPr lang="en-US" sz="3200">
                  <a:solidFill>
                    <a:srgbClr val="FF3300"/>
                  </a:solidFill>
                </a:rPr>
                <a:t>AVC</a:t>
              </a:r>
              <a:r>
                <a:rPr lang="ru-RU" sz="3200">
                  <a:solidFill>
                    <a:srgbClr val="FF3300"/>
                  </a:solidFill>
                </a:rPr>
                <a:t> </a:t>
              </a:r>
            </a:p>
          </p:txBody>
        </p:sp>
        <p:sp>
          <p:nvSpPr>
            <p:cNvPr id="58386" name="Rectangle 21"/>
            <p:cNvSpPr>
              <a:spLocks noChangeArrowheads="1"/>
            </p:cNvSpPr>
            <p:nvPr/>
          </p:nvSpPr>
          <p:spPr bwMode="auto">
            <a:xfrm>
              <a:off x="2976" y="2928"/>
              <a:ext cx="2304" cy="960"/>
            </a:xfrm>
            <a:prstGeom prst="rect">
              <a:avLst/>
            </a:prstGeom>
            <a:noFill/>
            <a:ln w="57150" cmpd="thinThick">
              <a:solidFill>
                <a:srgbClr val="0033CC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ru-RU" sz="3200"/>
            </a:p>
          </p:txBody>
        </p:sp>
      </p:grpSp>
    </p:spTree>
  </p:cSld>
  <p:clrMapOvr>
    <a:masterClrMapping/>
  </p:clrMapOvr>
  <p:transition spd="med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32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32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32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2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32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132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132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132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132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1" dur="500"/>
                                        <p:tgtEl>
                                          <p:spTgt spid="132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6" dur="500"/>
                                        <p:tgtEl>
                                          <p:spTgt spid="132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8" grpId="0" autoUpdateAnimBg="0"/>
      <p:bldP spid="132099" grpId="0" autoUpdateAnimBg="0"/>
      <p:bldP spid="132100" grpId="0" autoUpdateAnimBg="0"/>
      <p:bldP spid="132101" grpId="0" autoUpdateAnimBg="0"/>
      <p:bldP spid="132102" grpId="0" autoUpdateAnimBg="0"/>
      <p:bldP spid="132104" grpId="0" autoUpdateAnimBg="0"/>
      <p:bldP spid="132105" grpId="0" autoUpdateAnimBg="0"/>
      <p:bldP spid="132106" grpId="0" autoUpdateAnimBg="0"/>
      <p:bldP spid="132109" grpId="0" animBg="1"/>
      <p:bldP spid="132110" grpId="0" autoUpdateAnimBg="0"/>
      <p:bldP spid="132111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2"/>
          <p:cNvSpPr txBox="1">
            <a:spLocks noChangeArrowheads="1"/>
          </p:cNvSpPr>
          <p:nvPr/>
        </p:nvSpPr>
        <p:spPr bwMode="auto">
          <a:xfrm>
            <a:off x="971550" y="2060575"/>
            <a:ext cx="7632700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4000" dirty="0">
                <a:solidFill>
                  <a:schemeClr val="bg2"/>
                </a:solidFill>
              </a:rPr>
              <a:t>Динамические методы оценки эффективности инвестиционных проектов</a:t>
            </a:r>
          </a:p>
        </p:txBody>
      </p:sp>
      <p:sp>
        <p:nvSpPr>
          <p:cNvPr id="59395" name="Rectangle 1073"/>
          <p:cNvSpPr>
            <a:spLocks noChangeArrowheads="1"/>
          </p:cNvSpPr>
          <p:nvPr/>
        </p:nvSpPr>
        <p:spPr bwMode="auto">
          <a:xfrm>
            <a:off x="0" y="3162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sz="3200"/>
          </a:p>
        </p:txBody>
      </p:sp>
      <p:sp>
        <p:nvSpPr>
          <p:cNvPr id="59396" name="Rectangle 1075"/>
          <p:cNvSpPr>
            <a:spLocks noChangeArrowheads="1"/>
          </p:cNvSpPr>
          <p:nvPr/>
        </p:nvSpPr>
        <p:spPr bwMode="auto">
          <a:xfrm>
            <a:off x="0" y="3162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sz="3200"/>
          </a:p>
        </p:txBody>
      </p:sp>
    </p:spTree>
  </p:cSld>
  <p:clrMapOvr>
    <a:masterClrMapping/>
  </p:clrMapOvr>
  <p:transition spd="med">
    <p:strips dir="rd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7" name="Text Box 3"/>
          <p:cNvSpPr txBox="1">
            <a:spLocks noChangeArrowheads="1"/>
          </p:cNvSpPr>
          <p:nvPr/>
        </p:nvSpPr>
        <p:spPr bwMode="auto">
          <a:xfrm>
            <a:off x="457200" y="990600"/>
            <a:ext cx="8534400" cy="186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 i="0"/>
              <a:t>     </a:t>
            </a:r>
            <a:r>
              <a:rPr lang="ru-RU" sz="3200" i="0">
                <a:solidFill>
                  <a:srgbClr val="FF3300"/>
                </a:solidFill>
              </a:rPr>
              <a:t>Дисконтирование</a:t>
            </a:r>
            <a:r>
              <a:rPr lang="ru-RU" sz="2800" i="0"/>
              <a:t> – это процедура приведения разновременных денежных поступлений и выплат к единому моменту времени.</a:t>
            </a:r>
          </a:p>
        </p:txBody>
      </p:sp>
      <p:sp>
        <p:nvSpPr>
          <p:cNvPr id="267268" name="Text Box 4"/>
          <p:cNvSpPr txBox="1">
            <a:spLocks noChangeArrowheads="1"/>
          </p:cNvSpPr>
          <p:nvPr/>
        </p:nvSpPr>
        <p:spPr bwMode="auto">
          <a:xfrm>
            <a:off x="381000" y="3505200"/>
            <a:ext cx="8153400" cy="186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800"/>
              <a:t>     </a:t>
            </a:r>
            <a:r>
              <a:rPr lang="ru-RU" sz="3200" i="0">
                <a:solidFill>
                  <a:srgbClr val="FF3300"/>
                </a:solidFill>
              </a:rPr>
              <a:t>Норма дисконта</a:t>
            </a:r>
            <a:r>
              <a:rPr lang="ru-RU" sz="2800" i="0"/>
              <a:t> – это ежегодная ставка доходности, которая могла бы быть получена в настоящий момент времени от аналогичных инвестиций.</a:t>
            </a:r>
          </a:p>
        </p:txBody>
      </p:sp>
    </p:spTree>
    <p:extLst>
      <p:ext uri="{BB962C8B-B14F-4D97-AF65-F5344CB8AC3E}">
        <p14:creationId xmlns:p14="http://schemas.microsoft.com/office/powerpoint/2010/main" val="2053771880"/>
      </p:ext>
    </p:extLst>
  </p:cSld>
  <p:clrMapOvr>
    <a:masterClrMapping/>
  </p:clrMapOvr>
  <p:transition spd="med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67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67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7" grpId="0" autoUpdateAnimBg="0"/>
      <p:bldP spid="267268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5" y="1772816"/>
            <a:ext cx="7776864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459590"/>
      </p:ext>
    </p:extLst>
  </p:cSld>
  <p:clrMapOvr>
    <a:masterClrMapping/>
  </p:clrMapOvr>
  <p:transition spd="med">
    <p:strips dir="rd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449999" y="1772816"/>
            <a:ext cx="1169673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3" name="Объект 2"/>
          <p:cNvGraphicFramePr>
            <a:graphicFrameLocks noChangeAspect="1"/>
          </p:cNvGraphicFramePr>
          <p:nvPr>
            <p:extLst/>
          </p:nvPr>
        </p:nvGraphicFramePr>
        <p:xfrm>
          <a:off x="899592" y="1772816"/>
          <a:ext cx="7200800" cy="3816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236" r:id="rId3" imgW="5626989" imgH="3128061" progId="Visio.Drawing.11">
                  <p:embed/>
                </p:oleObj>
              </mc:Choice>
              <mc:Fallback>
                <p:oleObj r:id="rId3" imgW="5626989" imgH="3128061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1772816"/>
                        <a:ext cx="7200800" cy="38164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9742918"/>
      </p:ext>
    </p:extLst>
  </p:cSld>
  <p:clrMapOvr>
    <a:masterClrMapping/>
  </p:clrMapOvr>
  <p:transition spd="med">
    <p:strips dir="rd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2"/>
          <p:cNvSpPr txBox="1">
            <a:spLocks noChangeArrowheads="1"/>
          </p:cNvSpPr>
          <p:nvPr/>
        </p:nvSpPr>
        <p:spPr bwMode="auto">
          <a:xfrm>
            <a:off x="971550" y="2060575"/>
            <a:ext cx="7632700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4000" dirty="0" err="1" smtClean="0">
                <a:solidFill>
                  <a:schemeClr val="bg2"/>
                </a:solidFill>
              </a:rPr>
              <a:t>CIFt</a:t>
            </a:r>
            <a:r>
              <a:rPr lang="en-US" sz="4000" dirty="0" smtClean="0">
                <a:solidFill>
                  <a:schemeClr val="bg2"/>
                </a:solidFill>
              </a:rPr>
              <a:t> (Cash Input Flow)</a:t>
            </a:r>
          </a:p>
          <a:p>
            <a:pPr algn="ctr"/>
            <a:endParaRPr lang="en-US" sz="4000" dirty="0" smtClean="0">
              <a:solidFill>
                <a:schemeClr val="bg2"/>
              </a:solidFill>
            </a:endParaRPr>
          </a:p>
          <a:p>
            <a:pPr algn="ctr"/>
            <a:endParaRPr lang="en-US" sz="4000" dirty="0" smtClean="0">
              <a:solidFill>
                <a:schemeClr val="bg2"/>
              </a:solidFill>
            </a:endParaRPr>
          </a:p>
          <a:p>
            <a:pPr algn="ctr"/>
            <a:endParaRPr lang="ru-RU" sz="4000" dirty="0">
              <a:solidFill>
                <a:schemeClr val="bg2"/>
              </a:solidFill>
            </a:endParaRPr>
          </a:p>
        </p:txBody>
      </p:sp>
      <p:sp>
        <p:nvSpPr>
          <p:cNvPr id="59395" name="Rectangle 1073"/>
          <p:cNvSpPr>
            <a:spLocks noChangeArrowheads="1"/>
          </p:cNvSpPr>
          <p:nvPr/>
        </p:nvSpPr>
        <p:spPr bwMode="auto">
          <a:xfrm>
            <a:off x="0" y="3162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sz="3200"/>
          </a:p>
        </p:txBody>
      </p:sp>
      <p:sp>
        <p:nvSpPr>
          <p:cNvPr id="59396" name="Rectangle 1075"/>
          <p:cNvSpPr>
            <a:spLocks noChangeArrowheads="1"/>
          </p:cNvSpPr>
          <p:nvPr/>
        </p:nvSpPr>
        <p:spPr bwMode="auto">
          <a:xfrm>
            <a:off x="0" y="3162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sz="3200"/>
          </a:p>
        </p:txBody>
      </p:sp>
      <p:sp>
        <p:nvSpPr>
          <p:cNvPr id="6" name="Прямоугольник 5"/>
          <p:cNvSpPr/>
          <p:nvPr/>
        </p:nvSpPr>
        <p:spPr>
          <a:xfrm>
            <a:off x="2143108" y="3105835"/>
            <a:ext cx="32008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chemeClr val="bg2"/>
                </a:solidFill>
              </a:rPr>
              <a:t>COFt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428992" y="3105835"/>
            <a:ext cx="48577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(Cash Output Flow)</a:t>
            </a:r>
            <a:endParaRPr lang="ru-RU" dirty="0"/>
          </a:p>
        </p:txBody>
      </p:sp>
    </p:spTree>
  </p:cSld>
  <p:clrMapOvr>
    <a:masterClrMapping/>
  </p:clrMapOvr>
  <p:transition spd="med">
    <p:strips dir="rd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Rectangle 3"/>
          <p:cNvSpPr>
            <a:spLocks noChangeArrowheads="1"/>
          </p:cNvSpPr>
          <p:nvPr/>
        </p:nvSpPr>
        <p:spPr bwMode="auto">
          <a:xfrm>
            <a:off x="323850" y="400050"/>
            <a:ext cx="8496300" cy="1189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>
              <a:spcBef>
                <a:spcPct val="0"/>
              </a:spcBef>
            </a:pPr>
            <a:r>
              <a:rPr lang="ru-RU" altLang="zh-CN" sz="4000" i="0">
                <a:solidFill>
                  <a:srgbClr val="FF0000"/>
                </a:solidFill>
              </a:rPr>
              <a:t>Чистая текущая стоимость</a:t>
            </a:r>
            <a:r>
              <a:rPr lang="ru-RU" altLang="zh-CN" sz="3200" i="0">
                <a:solidFill>
                  <a:srgbClr val="FF0000"/>
                </a:solidFill>
              </a:rPr>
              <a:t> </a:t>
            </a:r>
            <a:endParaRPr lang="en-US" altLang="zh-CN" sz="3200" i="0">
              <a:solidFill>
                <a:srgbClr val="FF0000"/>
              </a:solidFill>
              <a:ea typeface="宋体" pitchFamily="2" charset="-122"/>
            </a:endParaRPr>
          </a:p>
          <a:p>
            <a:pPr algn="ctr" eaLnBrk="1" hangingPunct="1">
              <a:spcBef>
                <a:spcPct val="0"/>
              </a:spcBef>
            </a:pPr>
            <a:r>
              <a:rPr lang="ru-RU" altLang="zh-CN" sz="3200" i="0">
                <a:solidFill>
                  <a:srgbClr val="FF0000"/>
                </a:solidFill>
              </a:rPr>
              <a:t>(</a:t>
            </a:r>
            <a:r>
              <a:rPr lang="en-US" altLang="zh-CN" sz="3200" i="0">
                <a:solidFill>
                  <a:srgbClr val="FF0000"/>
                </a:solidFill>
                <a:ea typeface="宋体" pitchFamily="2" charset="-122"/>
              </a:rPr>
              <a:t>NPV </a:t>
            </a:r>
            <a:r>
              <a:rPr lang="ru-RU" altLang="zh-CN" sz="3200" i="0">
                <a:solidFill>
                  <a:srgbClr val="FF0000"/>
                </a:solidFill>
              </a:rPr>
              <a:t>- </a:t>
            </a:r>
            <a:r>
              <a:rPr lang="en-US" altLang="zh-CN" sz="3200" i="0">
                <a:solidFill>
                  <a:srgbClr val="FF0000"/>
                </a:solidFill>
                <a:ea typeface="宋体" pitchFamily="2" charset="-122"/>
              </a:rPr>
              <a:t>Net Present Value </a:t>
            </a:r>
            <a:r>
              <a:rPr lang="ru-RU" altLang="zh-CN" sz="3200" i="0">
                <a:solidFill>
                  <a:srgbClr val="FF0000"/>
                </a:solidFill>
              </a:rPr>
              <a:t>) </a:t>
            </a:r>
          </a:p>
        </p:txBody>
      </p:sp>
      <p:sp>
        <p:nvSpPr>
          <p:cNvPr id="7174" name="Rectangle 4"/>
          <p:cNvSpPr>
            <a:spLocks noChangeArrowheads="1"/>
          </p:cNvSpPr>
          <p:nvPr/>
        </p:nvSpPr>
        <p:spPr bwMode="auto">
          <a:xfrm>
            <a:off x="0" y="3162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sz="3200"/>
          </a:p>
        </p:txBody>
      </p:sp>
      <p:graphicFrame>
        <p:nvGraphicFramePr>
          <p:cNvPr id="288773" name="Object 5"/>
          <p:cNvGraphicFramePr>
            <a:graphicFrameLocks noChangeAspect="1"/>
          </p:cNvGraphicFramePr>
          <p:nvPr/>
        </p:nvGraphicFramePr>
        <p:xfrm>
          <a:off x="1571604" y="1714488"/>
          <a:ext cx="5832475" cy="129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5" name="Формула" r:id="rId3" imgW="2413000" imgH="533400" progId="">
                  <p:embed/>
                </p:oleObj>
              </mc:Choice>
              <mc:Fallback>
                <p:oleObj name="Формула" r:id="rId3" imgW="2413000" imgH="53340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04" y="1714488"/>
                        <a:ext cx="5832475" cy="1292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5" name="Rectangle 6"/>
          <p:cNvSpPr>
            <a:spLocks noChangeArrowheads="1"/>
          </p:cNvSpPr>
          <p:nvPr/>
        </p:nvSpPr>
        <p:spPr bwMode="auto">
          <a:xfrm>
            <a:off x="0" y="3162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sz="3200"/>
          </a:p>
        </p:txBody>
      </p:sp>
      <p:graphicFrame>
        <p:nvGraphicFramePr>
          <p:cNvPr id="288775" name="Object 7"/>
          <p:cNvGraphicFramePr>
            <a:graphicFrameLocks noChangeAspect="1"/>
          </p:cNvGraphicFramePr>
          <p:nvPr/>
        </p:nvGraphicFramePr>
        <p:xfrm>
          <a:off x="2195512" y="3357563"/>
          <a:ext cx="6019825" cy="1427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6" name="Формула" r:id="rId5" imgW="1726451" imgH="533169" progId="">
                  <p:embed/>
                </p:oleObj>
              </mc:Choice>
              <mc:Fallback>
                <p:oleObj name="Формула" r:id="rId5" imgW="1726451" imgH="533169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2" y="3357563"/>
                        <a:ext cx="6019825" cy="1427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776" name="Object 8"/>
          <p:cNvGraphicFramePr>
            <a:graphicFrameLocks noGrp="1" noChangeAspect="1"/>
          </p:cNvGraphicFramePr>
          <p:nvPr>
            <p:ph idx="4294967295"/>
          </p:nvPr>
        </p:nvGraphicFramePr>
        <p:xfrm>
          <a:off x="971550" y="5084763"/>
          <a:ext cx="6096000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7" name="Формула" r:id="rId7" imgW="2361960" imgH="520560" progId="">
                  <p:embed/>
                </p:oleObj>
              </mc:Choice>
              <mc:Fallback>
                <p:oleObj name="Формула" r:id="rId7" imgW="2361960" imgH="520560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5084763"/>
                        <a:ext cx="6096000" cy="1343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88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88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88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ctr" eaLnBrk="1" hangingPunct="1"/>
            <a:r>
              <a:rPr lang="ru-RU" sz="3600" b="1" smtClean="0">
                <a:solidFill>
                  <a:srgbClr val="FF0000"/>
                </a:solidFill>
              </a:rPr>
              <a:t>Индекс доходности</a:t>
            </a:r>
            <a:r>
              <a:rPr lang="en-US" sz="3600" b="1" smtClean="0">
                <a:solidFill>
                  <a:srgbClr val="FF0000"/>
                </a:solidFill>
              </a:rPr>
              <a:t/>
            </a:r>
            <a:br>
              <a:rPr lang="en-US" sz="3600" b="1" smtClean="0">
                <a:solidFill>
                  <a:srgbClr val="FF0000"/>
                </a:solidFill>
              </a:rPr>
            </a:br>
            <a:r>
              <a:rPr lang="ru-RU" sz="3600" b="1" smtClean="0">
                <a:solidFill>
                  <a:srgbClr val="FF0000"/>
                </a:solidFill>
              </a:rPr>
              <a:t> (</a:t>
            </a:r>
            <a:r>
              <a:rPr lang="en-US" sz="3600" b="1" smtClean="0">
                <a:solidFill>
                  <a:srgbClr val="FF0000"/>
                </a:solidFill>
              </a:rPr>
              <a:t>PI</a:t>
            </a:r>
            <a:r>
              <a:rPr lang="ru-RU" sz="3600" b="1" smtClean="0">
                <a:solidFill>
                  <a:srgbClr val="FF0000"/>
                </a:solidFill>
              </a:rPr>
              <a:t> - </a:t>
            </a:r>
            <a:r>
              <a:rPr lang="en-US" sz="3600" b="1" smtClean="0">
                <a:solidFill>
                  <a:srgbClr val="FF0000"/>
                </a:solidFill>
              </a:rPr>
              <a:t>Profitability Index</a:t>
            </a:r>
            <a:r>
              <a:rPr lang="ru-RU" sz="3600" b="1" smtClean="0">
                <a:solidFill>
                  <a:srgbClr val="FF0000"/>
                </a:solidFill>
              </a:rPr>
              <a:t>)</a:t>
            </a:r>
            <a:r>
              <a:rPr lang="ru-RU" smtClean="0"/>
              <a:t> </a:t>
            </a: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0" y="30337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sz="3200"/>
          </a:p>
        </p:txBody>
      </p:sp>
      <p:graphicFrame>
        <p:nvGraphicFramePr>
          <p:cNvPr id="286724" name="Object 4"/>
          <p:cNvGraphicFramePr>
            <a:graphicFrameLocks noChangeAspect="1"/>
          </p:cNvGraphicFramePr>
          <p:nvPr/>
        </p:nvGraphicFramePr>
        <p:xfrm>
          <a:off x="3132138" y="2136775"/>
          <a:ext cx="3240087" cy="208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58" name="Формула" r:id="rId3" imgW="1231900" imgH="787400" progId="">
                  <p:embed/>
                </p:oleObj>
              </mc:Choice>
              <mc:Fallback>
                <p:oleObj name="Формула" r:id="rId3" imgW="1231900" imgH="7874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2136775"/>
                        <a:ext cx="3240087" cy="2084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26" name="Object 6"/>
          <p:cNvGraphicFramePr>
            <a:graphicFrameLocks noGrp="1" noChangeAspect="1"/>
          </p:cNvGraphicFramePr>
          <p:nvPr>
            <p:ph idx="4294967295"/>
          </p:nvPr>
        </p:nvGraphicFramePr>
        <p:xfrm>
          <a:off x="1189038" y="4292600"/>
          <a:ext cx="6764337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59" name="Формула" r:id="rId5" imgW="2133360" imgH="520560" progId="">
                  <p:embed/>
                </p:oleObj>
              </mc:Choice>
              <mc:Fallback>
                <p:oleObj name="Формула" r:id="rId5" imgW="2133360" imgH="52056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038" y="4292600"/>
                        <a:ext cx="6764337" cy="165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86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86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750" y="692150"/>
            <a:ext cx="8229600" cy="1371600"/>
          </a:xfrm>
        </p:spPr>
        <p:txBody>
          <a:bodyPr/>
          <a:lstStyle/>
          <a:p>
            <a:pPr algn="ctr" eaLnBrk="1" hangingPunct="1"/>
            <a:r>
              <a:rPr lang="ru-RU" sz="4000" b="1" smtClean="0">
                <a:solidFill>
                  <a:srgbClr val="FF0000"/>
                </a:solidFill>
              </a:rPr>
              <a:t>Внутренняя норма доходности</a:t>
            </a:r>
            <a:r>
              <a:rPr lang="ru-RU" sz="4800" smtClean="0"/>
              <a:t> </a:t>
            </a:r>
            <a:br>
              <a:rPr lang="ru-RU" sz="4800" smtClean="0"/>
            </a:br>
            <a:r>
              <a:rPr lang="ru-RU" sz="3600" b="1" smtClean="0">
                <a:solidFill>
                  <a:srgbClr val="FF0000"/>
                </a:solidFill>
              </a:rPr>
              <a:t>(</a:t>
            </a:r>
            <a:r>
              <a:rPr lang="en-US" sz="3600" b="1" smtClean="0">
                <a:solidFill>
                  <a:srgbClr val="FF0000"/>
                </a:solidFill>
              </a:rPr>
              <a:t>IRR</a:t>
            </a:r>
            <a:r>
              <a:rPr lang="ru-RU" sz="3600" b="1" smtClean="0">
                <a:solidFill>
                  <a:srgbClr val="FF0000"/>
                </a:solidFill>
              </a:rPr>
              <a:t> -  </a:t>
            </a:r>
            <a:r>
              <a:rPr lang="en-US" sz="3600" b="1" smtClean="0">
                <a:solidFill>
                  <a:srgbClr val="FF0000"/>
                </a:solidFill>
              </a:rPr>
              <a:t>Internal Rate of Return</a:t>
            </a:r>
            <a:r>
              <a:rPr lang="ru-RU" sz="3600" b="1" smtClean="0">
                <a:solidFill>
                  <a:srgbClr val="FF0000"/>
                </a:solidFill>
              </a:rPr>
              <a:t>)</a:t>
            </a:r>
            <a:r>
              <a:rPr lang="ru-RU" sz="4000" smtClean="0"/>
              <a:t> </a:t>
            </a:r>
          </a:p>
        </p:txBody>
      </p:sp>
      <p:graphicFrame>
        <p:nvGraphicFramePr>
          <p:cNvPr id="177152" name="Object 23"/>
          <p:cNvGraphicFramePr>
            <a:graphicFrameLocks noChangeAspect="1"/>
          </p:cNvGraphicFramePr>
          <p:nvPr/>
        </p:nvGraphicFramePr>
        <p:xfrm>
          <a:off x="755650" y="2636838"/>
          <a:ext cx="7777163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167" name="Формула" r:id="rId3" imgW="2921000" imgH="622300" progId="">
                  <p:embed/>
                </p:oleObj>
              </mc:Choice>
              <mc:Fallback>
                <p:oleObj name="Формула" r:id="rId3" imgW="2921000" imgH="622300" progId="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636838"/>
                        <a:ext cx="7777163" cy="164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0" name="Rectangle 24"/>
          <p:cNvSpPr>
            <a:spLocks noChangeArrowheads="1"/>
          </p:cNvSpPr>
          <p:nvPr/>
        </p:nvSpPr>
        <p:spPr bwMode="auto">
          <a:xfrm>
            <a:off x="0" y="31813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sz="3200"/>
          </a:p>
        </p:txBody>
      </p:sp>
    </p:spTree>
  </p:cSld>
  <p:clrMapOvr>
    <a:masterClrMapping/>
  </p:clrMapOvr>
  <p:transition spd="med">
    <p:strips dir="rd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260350"/>
            <a:ext cx="8229600" cy="1371600"/>
          </a:xfrm>
        </p:spPr>
        <p:txBody>
          <a:bodyPr/>
          <a:lstStyle/>
          <a:p>
            <a:pPr algn="ctr" eaLnBrk="1" hangingPunct="1"/>
            <a:r>
              <a:rPr lang="ru-RU" sz="3600" b="1" smtClean="0">
                <a:solidFill>
                  <a:srgbClr val="FF0000"/>
                </a:solidFill>
              </a:rPr>
              <a:t>Графическая интерпретация </a:t>
            </a:r>
            <a:r>
              <a:rPr lang="en-US" sz="3600" b="1" smtClean="0">
                <a:solidFill>
                  <a:srgbClr val="FF0000"/>
                </a:solidFill>
              </a:rPr>
              <a:t>IRR</a:t>
            </a:r>
            <a:r>
              <a:rPr lang="ru-RU" sz="4800" smtClean="0"/>
              <a:t> </a:t>
            </a:r>
          </a:p>
        </p:txBody>
      </p:sp>
      <p:sp>
        <p:nvSpPr>
          <p:cNvPr id="60419" name="Text Box 3"/>
          <p:cNvSpPr txBox="1">
            <a:spLocks noChangeArrowheads="1"/>
          </p:cNvSpPr>
          <p:nvPr/>
        </p:nvSpPr>
        <p:spPr bwMode="auto">
          <a:xfrm>
            <a:off x="179388" y="4787900"/>
            <a:ext cx="151288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ru-RU" sz="24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NPV</a:t>
            </a:r>
            <a:r>
              <a:rPr lang="ru-RU" sz="24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US" sz="28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&lt;0</a:t>
            </a:r>
            <a:endParaRPr lang="ru-RU" sz="2800">
              <a:solidFill>
                <a:schemeClr val="bg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420" name="Text Box 4"/>
          <p:cNvSpPr txBox="1">
            <a:spLocks noChangeArrowheads="1"/>
          </p:cNvSpPr>
          <p:nvPr/>
        </p:nvSpPr>
        <p:spPr bwMode="auto">
          <a:xfrm>
            <a:off x="107950" y="2490788"/>
            <a:ext cx="153193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ru-RU" sz="24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NPV</a:t>
            </a:r>
            <a:r>
              <a:rPr lang="ru-RU" sz="24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28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&gt;0</a:t>
            </a:r>
            <a:endParaRPr lang="ru-RU" sz="2800">
              <a:solidFill>
                <a:schemeClr val="bg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3893" name="Text Box 5"/>
          <p:cNvSpPr txBox="1">
            <a:spLocks noChangeArrowheads="1"/>
          </p:cNvSpPr>
          <p:nvPr/>
        </p:nvSpPr>
        <p:spPr bwMode="auto">
          <a:xfrm>
            <a:off x="395288" y="1268413"/>
            <a:ext cx="1438275" cy="280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ru-RU" sz="2400">
                <a:solidFill>
                  <a:schemeClr val="bg2"/>
                </a:solidFill>
                <a:latin typeface="Times New Roman" pitchFamily="18" charset="0"/>
              </a:rPr>
              <a:t>NPV</a:t>
            </a:r>
          </a:p>
        </p:txBody>
      </p:sp>
      <p:sp>
        <p:nvSpPr>
          <p:cNvPr id="60422" name="Text Box 6"/>
          <p:cNvSpPr txBox="1">
            <a:spLocks noChangeArrowheads="1"/>
          </p:cNvSpPr>
          <p:nvPr/>
        </p:nvSpPr>
        <p:spPr bwMode="auto">
          <a:xfrm>
            <a:off x="1187450" y="3681413"/>
            <a:ext cx="257175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ru-RU" sz="1800" i="0">
                <a:solidFill>
                  <a:schemeClr val="tx1"/>
                </a:solidFill>
                <a:latin typeface="Times New Roman" pitchFamily="18" charset="0"/>
              </a:rPr>
              <a:t>0</a:t>
            </a:r>
          </a:p>
        </p:txBody>
      </p:sp>
      <p:sp>
        <p:nvSpPr>
          <p:cNvPr id="293895" name="Text Box 7"/>
          <p:cNvSpPr txBox="1">
            <a:spLocks noChangeArrowheads="1"/>
          </p:cNvSpPr>
          <p:nvPr/>
        </p:nvSpPr>
        <p:spPr bwMode="auto">
          <a:xfrm>
            <a:off x="6011863" y="3352800"/>
            <a:ext cx="5143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ru-RU" sz="2400">
                <a:solidFill>
                  <a:schemeClr val="bg2"/>
                </a:solidFill>
                <a:latin typeface="Times New Roman" pitchFamily="18" charset="0"/>
              </a:rPr>
              <a:t>R</a:t>
            </a:r>
            <a:r>
              <a:rPr lang="ru-RU" sz="2400" baseline="-25000">
                <a:solidFill>
                  <a:schemeClr val="bg2"/>
                </a:solidFill>
                <a:latin typeface="Times New Roman" pitchFamily="18" charset="0"/>
              </a:rPr>
              <a:t>2</a:t>
            </a:r>
            <a:endParaRPr lang="ru-RU" sz="2400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293896" name="Text Box 8"/>
          <p:cNvSpPr txBox="1">
            <a:spLocks noChangeArrowheads="1"/>
          </p:cNvSpPr>
          <p:nvPr/>
        </p:nvSpPr>
        <p:spPr bwMode="auto">
          <a:xfrm>
            <a:off x="4356100" y="3068638"/>
            <a:ext cx="14001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ru-RU" sz="2400">
                <a:solidFill>
                  <a:srgbClr val="FF0000"/>
                </a:solidFill>
                <a:latin typeface="Times New Roman" pitchFamily="18" charset="0"/>
              </a:rPr>
              <a:t>IRR</a:t>
            </a:r>
          </a:p>
        </p:txBody>
      </p:sp>
      <p:sp>
        <p:nvSpPr>
          <p:cNvPr id="293897" name="Line 9"/>
          <p:cNvSpPr>
            <a:spLocks noChangeShapeType="1"/>
          </p:cNvSpPr>
          <p:nvPr/>
        </p:nvSpPr>
        <p:spPr bwMode="auto">
          <a:xfrm flipV="1">
            <a:off x="1547813" y="3789363"/>
            <a:ext cx="5921375" cy="28575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93898" name="Line 10"/>
          <p:cNvSpPr>
            <a:spLocks noChangeShapeType="1"/>
          </p:cNvSpPr>
          <p:nvPr/>
        </p:nvSpPr>
        <p:spPr bwMode="auto">
          <a:xfrm>
            <a:off x="2268538" y="2708275"/>
            <a:ext cx="3887787" cy="23050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93899" name="Line 11"/>
          <p:cNvSpPr>
            <a:spLocks noChangeShapeType="1"/>
          </p:cNvSpPr>
          <p:nvPr/>
        </p:nvSpPr>
        <p:spPr bwMode="auto">
          <a:xfrm>
            <a:off x="2276475" y="2708275"/>
            <a:ext cx="0" cy="1109663"/>
          </a:xfrm>
          <a:prstGeom prst="line">
            <a:avLst/>
          </a:prstGeom>
          <a:noFill/>
          <a:ln w="9525">
            <a:solidFill>
              <a:schemeClr val="bg2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0428" name="Line 12"/>
          <p:cNvSpPr>
            <a:spLocks noChangeShapeType="1"/>
          </p:cNvSpPr>
          <p:nvPr/>
        </p:nvSpPr>
        <p:spPr bwMode="auto">
          <a:xfrm>
            <a:off x="6161088" y="3821113"/>
            <a:ext cx="0" cy="1192212"/>
          </a:xfrm>
          <a:prstGeom prst="line">
            <a:avLst/>
          </a:prstGeom>
          <a:noFill/>
          <a:ln w="9525">
            <a:solidFill>
              <a:schemeClr val="bg2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93901" name="Line 13"/>
          <p:cNvSpPr>
            <a:spLocks noChangeShapeType="1"/>
          </p:cNvSpPr>
          <p:nvPr/>
        </p:nvSpPr>
        <p:spPr bwMode="auto">
          <a:xfrm flipH="1">
            <a:off x="4125913" y="3429000"/>
            <a:ext cx="301625" cy="377825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293902" name="Text Box 14"/>
          <p:cNvSpPr txBox="1">
            <a:spLocks noChangeArrowheads="1"/>
          </p:cNvSpPr>
          <p:nvPr/>
        </p:nvSpPr>
        <p:spPr bwMode="auto">
          <a:xfrm>
            <a:off x="6732588" y="4005263"/>
            <a:ext cx="3286125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ru-RU" sz="2400">
                <a:solidFill>
                  <a:schemeClr val="bg2"/>
                </a:solidFill>
                <a:latin typeface="Times New Roman" pitchFamily="18" charset="0"/>
              </a:rPr>
              <a:t>R </a:t>
            </a:r>
            <a:r>
              <a:rPr lang="ru-RU" sz="2000" b="0">
                <a:solidFill>
                  <a:schemeClr val="bg2"/>
                </a:solidFill>
                <a:latin typeface="Times New Roman" pitchFamily="18" charset="0"/>
              </a:rPr>
              <a:t>(норма дисконта)</a:t>
            </a:r>
            <a:endParaRPr lang="ru-RU" sz="1800" b="0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293903" name="Text Box 15"/>
          <p:cNvSpPr txBox="1">
            <a:spLocks noChangeArrowheads="1"/>
          </p:cNvSpPr>
          <p:nvPr/>
        </p:nvSpPr>
        <p:spPr bwMode="auto">
          <a:xfrm>
            <a:off x="2041525" y="3849688"/>
            <a:ext cx="5143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ru-RU" sz="2400">
                <a:solidFill>
                  <a:schemeClr val="bg2"/>
                </a:solidFill>
                <a:latin typeface="Times New Roman" pitchFamily="18" charset="0"/>
              </a:rPr>
              <a:t>R</a:t>
            </a:r>
            <a:r>
              <a:rPr lang="ru-RU" sz="2400" baseline="-25000">
                <a:solidFill>
                  <a:schemeClr val="bg2"/>
                </a:solidFill>
                <a:latin typeface="Times New Roman" pitchFamily="18" charset="0"/>
              </a:rPr>
              <a:t>1</a:t>
            </a:r>
            <a:endParaRPr lang="ru-RU" sz="2400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60432" name="Line 16"/>
          <p:cNvSpPr>
            <a:spLocks noChangeShapeType="1"/>
          </p:cNvSpPr>
          <p:nvPr/>
        </p:nvSpPr>
        <p:spPr bwMode="auto">
          <a:xfrm>
            <a:off x="1530350" y="2693988"/>
            <a:ext cx="738188" cy="11112"/>
          </a:xfrm>
          <a:prstGeom prst="line">
            <a:avLst/>
          </a:prstGeom>
          <a:noFill/>
          <a:ln w="9525">
            <a:solidFill>
              <a:schemeClr val="bg2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0433" name="Line 17"/>
          <p:cNvSpPr>
            <a:spLocks noChangeShapeType="1"/>
          </p:cNvSpPr>
          <p:nvPr/>
        </p:nvSpPr>
        <p:spPr bwMode="auto">
          <a:xfrm flipH="1">
            <a:off x="1530350" y="5033963"/>
            <a:ext cx="4625975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93906" name="Line 18"/>
          <p:cNvSpPr>
            <a:spLocks noChangeShapeType="1"/>
          </p:cNvSpPr>
          <p:nvPr/>
        </p:nvSpPr>
        <p:spPr bwMode="auto">
          <a:xfrm flipV="1">
            <a:off x="1522413" y="1341438"/>
            <a:ext cx="19050" cy="4967287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293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293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293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293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93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293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93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93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93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93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893" grpId="0" autoUpdateAnimBg="0"/>
      <p:bldP spid="293895" grpId="0" autoUpdateAnimBg="0"/>
      <p:bldP spid="293896" grpId="0" autoUpdateAnimBg="0"/>
      <p:bldP spid="293897" grpId="0" animBg="1"/>
      <p:bldP spid="293898" grpId="0" animBg="1"/>
      <p:bldP spid="293899" grpId="0" animBg="1"/>
      <p:bldP spid="293901" grpId="0" animBg="1"/>
      <p:bldP spid="293902" grpId="0" autoUpdateAnimBg="0"/>
      <p:bldP spid="293903" grpId="0" autoUpdateAnimBg="0"/>
      <p:bldP spid="29390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261938"/>
            <a:ext cx="8229600" cy="1079500"/>
          </a:xfrm>
        </p:spPr>
        <p:txBody>
          <a:bodyPr/>
          <a:lstStyle/>
          <a:p>
            <a:pPr algn="ctr" eaLnBrk="1" hangingPunct="1"/>
            <a:r>
              <a:rPr lang="ru-RU" b="1" smtClean="0">
                <a:solidFill>
                  <a:srgbClr val="FF0000"/>
                </a:solidFill>
              </a:rPr>
              <a:t>Расчетная формула</a:t>
            </a:r>
            <a:r>
              <a:rPr lang="ru-RU" smtClean="0"/>
              <a:t> </a:t>
            </a:r>
          </a:p>
        </p:txBody>
      </p:sp>
      <p:sp>
        <p:nvSpPr>
          <p:cNvPr id="10244" name="Rectangle 22"/>
          <p:cNvSpPr>
            <a:spLocks noChangeArrowheads="1"/>
          </p:cNvSpPr>
          <p:nvPr/>
        </p:nvSpPr>
        <p:spPr bwMode="auto">
          <a:xfrm>
            <a:off x="0" y="31194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sz="3200"/>
          </a:p>
        </p:txBody>
      </p:sp>
      <p:sp>
        <p:nvSpPr>
          <p:cNvPr id="10245" name="Rectangle 24"/>
          <p:cNvSpPr>
            <a:spLocks noChangeArrowheads="1"/>
          </p:cNvSpPr>
          <p:nvPr/>
        </p:nvSpPr>
        <p:spPr bwMode="auto">
          <a:xfrm>
            <a:off x="0" y="31813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sz="3200"/>
          </a:p>
        </p:txBody>
      </p:sp>
      <p:graphicFrame>
        <p:nvGraphicFramePr>
          <p:cNvPr id="178176" name="Object 25"/>
          <p:cNvGraphicFramePr>
            <a:graphicFrameLocks noChangeAspect="1"/>
          </p:cNvGraphicFramePr>
          <p:nvPr/>
        </p:nvGraphicFramePr>
        <p:xfrm>
          <a:off x="1835150" y="1628775"/>
          <a:ext cx="5300663" cy="126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191" name="Формула" r:id="rId3" imgW="2082600" imgH="495000" progId="">
                  <p:embed/>
                </p:oleObj>
              </mc:Choice>
              <mc:Fallback>
                <p:oleObj name="Формула" r:id="rId3" imgW="2082600" imgH="495000" progId="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1628775"/>
                        <a:ext cx="5300663" cy="1262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6" name="Text Box 26"/>
          <p:cNvSpPr txBox="1">
            <a:spLocks noChangeArrowheads="1"/>
          </p:cNvSpPr>
          <p:nvPr/>
        </p:nvSpPr>
        <p:spPr bwMode="auto">
          <a:xfrm>
            <a:off x="1835150" y="3508375"/>
            <a:ext cx="50403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0">
                <a:solidFill>
                  <a:srgbClr val="FF0000"/>
                </a:solidFill>
              </a:rPr>
              <a:t>Недостатки IRR</a:t>
            </a:r>
            <a:endParaRPr lang="ru-RU" i="0">
              <a:solidFill>
                <a:srgbClr val="FF0000"/>
              </a:solidFill>
            </a:endParaRPr>
          </a:p>
        </p:txBody>
      </p:sp>
      <p:sp>
        <p:nvSpPr>
          <p:cNvPr id="10247" name="Text Box 27"/>
          <p:cNvSpPr txBox="1">
            <a:spLocks noChangeArrowheads="1"/>
          </p:cNvSpPr>
          <p:nvPr/>
        </p:nvSpPr>
        <p:spPr bwMode="auto">
          <a:xfrm>
            <a:off x="1258888" y="4365625"/>
            <a:ext cx="6516687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i="0"/>
              <a:t>Применим только к регулярным инвестиционным проектам</a:t>
            </a:r>
            <a:endParaRPr lang="ru-RU" sz="2800" i="0"/>
          </a:p>
        </p:txBody>
      </p:sp>
      <p:sp>
        <p:nvSpPr>
          <p:cNvPr id="10248" name="Text Box 28"/>
          <p:cNvSpPr txBox="1">
            <a:spLocks noChangeArrowheads="1"/>
          </p:cNvSpPr>
          <p:nvPr/>
        </p:nvSpPr>
        <p:spPr bwMode="auto">
          <a:xfrm>
            <a:off x="1979613" y="5661025"/>
            <a:ext cx="6121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4400" i="0"/>
              <a:t>+++- - -       - - - +++</a:t>
            </a:r>
            <a:r>
              <a:rPr lang="ru-RU" sz="4400" i="0"/>
              <a:t> </a:t>
            </a:r>
          </a:p>
        </p:txBody>
      </p:sp>
    </p:spTree>
  </p:cSld>
  <p:clrMapOvr>
    <a:masterClrMapping/>
  </p:clrMapOvr>
  <p:transition spd="med">
    <p:strips dir="rd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90550" y="688975"/>
            <a:ext cx="8229600" cy="1371600"/>
          </a:xfrm>
        </p:spPr>
        <p:txBody>
          <a:bodyPr/>
          <a:lstStyle/>
          <a:p>
            <a:pPr algn="ctr" eaLnBrk="1" hangingPunct="1"/>
            <a:r>
              <a:rPr lang="ru-RU" sz="3600" b="1" smtClean="0">
                <a:solidFill>
                  <a:srgbClr val="FF0000"/>
                </a:solidFill>
              </a:rPr>
              <a:t>Динамический срок окупаемости </a:t>
            </a:r>
            <a:r>
              <a:rPr lang="ru-RU" sz="3200" b="1" smtClean="0">
                <a:solidFill>
                  <a:srgbClr val="FF0000"/>
                </a:solidFill>
              </a:rPr>
              <a:t>(</a:t>
            </a:r>
            <a:r>
              <a:rPr lang="en-US" sz="3200" b="1" smtClean="0">
                <a:solidFill>
                  <a:srgbClr val="FF0000"/>
                </a:solidFill>
              </a:rPr>
              <a:t>DPBP</a:t>
            </a:r>
            <a:r>
              <a:rPr lang="ru-RU" sz="3200" b="1" smtClean="0">
                <a:solidFill>
                  <a:srgbClr val="FF0000"/>
                </a:solidFill>
              </a:rPr>
              <a:t> - </a:t>
            </a:r>
            <a:r>
              <a:rPr lang="en-US" sz="3200" b="1" smtClean="0">
                <a:solidFill>
                  <a:srgbClr val="FF0000"/>
                </a:solidFill>
              </a:rPr>
              <a:t>discounted</a:t>
            </a:r>
            <a:r>
              <a:rPr lang="ru-RU" sz="3200" b="1" smtClean="0">
                <a:solidFill>
                  <a:srgbClr val="FF0000"/>
                </a:solidFill>
              </a:rPr>
              <a:t> payback period)</a:t>
            </a:r>
            <a:r>
              <a:rPr lang="ru-RU" smtClean="0"/>
              <a:t> </a:t>
            </a:r>
          </a:p>
        </p:txBody>
      </p:sp>
      <p:sp>
        <p:nvSpPr>
          <p:cNvPr id="11268" name="Rectangle 5"/>
          <p:cNvSpPr>
            <a:spLocks noChangeArrowheads="1"/>
          </p:cNvSpPr>
          <p:nvPr/>
        </p:nvSpPr>
        <p:spPr bwMode="auto">
          <a:xfrm>
            <a:off x="0" y="31194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sz="3200"/>
          </a:p>
        </p:txBody>
      </p:sp>
      <p:graphicFrame>
        <p:nvGraphicFramePr>
          <p:cNvPr id="289796" name="Object 4"/>
          <p:cNvGraphicFramePr>
            <a:graphicFrameLocks noChangeAspect="1"/>
          </p:cNvGraphicFramePr>
          <p:nvPr/>
        </p:nvGraphicFramePr>
        <p:xfrm>
          <a:off x="611188" y="2781300"/>
          <a:ext cx="7812087" cy="161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215" name="Формула" r:id="rId3" imgW="2997200" imgH="622300" progId="">
                  <p:embed/>
                </p:oleObj>
              </mc:Choice>
              <mc:Fallback>
                <p:oleObj name="Формула" r:id="rId3" imgW="2997200" imgH="6223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781300"/>
                        <a:ext cx="7812087" cy="161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Rectangle 7"/>
          <p:cNvSpPr>
            <a:spLocks noChangeArrowheads="1"/>
          </p:cNvSpPr>
          <p:nvPr/>
        </p:nvSpPr>
        <p:spPr bwMode="auto">
          <a:xfrm>
            <a:off x="0" y="3162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sz="3200"/>
          </a:p>
        </p:txBody>
      </p:sp>
    </p:spTree>
  </p:cSld>
  <p:clrMapOvr>
    <a:masterClrMapping/>
  </p:clrMapOvr>
  <p:transition spd="med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89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457200"/>
            <a:ext cx="8229600" cy="1371600"/>
          </a:xfrm>
        </p:spPr>
        <p:txBody>
          <a:bodyPr/>
          <a:lstStyle/>
          <a:p>
            <a:pPr algn="ctr" eaLnBrk="1" hangingPunct="1"/>
            <a:r>
              <a:rPr lang="ru-RU" sz="4000" b="1" smtClean="0">
                <a:solidFill>
                  <a:srgbClr val="FF0000"/>
                </a:solidFill>
              </a:rPr>
              <a:t>Расчетная формула </a:t>
            </a:r>
            <a:r>
              <a:rPr lang="en-US" sz="4000" b="1" smtClean="0">
                <a:solidFill>
                  <a:srgbClr val="FF0000"/>
                </a:solidFill>
              </a:rPr>
              <a:t>DPBP</a:t>
            </a:r>
            <a:r>
              <a:rPr lang="ru-RU" sz="4000" b="1" smtClean="0">
                <a:solidFill>
                  <a:srgbClr val="FF0000"/>
                </a:solidFill>
              </a:rPr>
              <a:t>  </a:t>
            </a:r>
            <a:endParaRPr lang="ru-RU" sz="4800" smtClean="0"/>
          </a:p>
        </p:txBody>
      </p:sp>
      <p:sp>
        <p:nvSpPr>
          <p:cNvPr id="12292" name="Rectangle 3"/>
          <p:cNvSpPr>
            <a:spLocks noChangeArrowheads="1"/>
          </p:cNvSpPr>
          <p:nvPr/>
        </p:nvSpPr>
        <p:spPr bwMode="auto">
          <a:xfrm>
            <a:off x="0" y="31194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sz="3200"/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0" y="3162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sz="3200"/>
          </a:p>
        </p:txBody>
      </p:sp>
      <p:graphicFrame>
        <p:nvGraphicFramePr>
          <p:cNvPr id="122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5105059"/>
              </p:ext>
            </p:extLst>
          </p:nvPr>
        </p:nvGraphicFramePr>
        <p:xfrm>
          <a:off x="1042988" y="2276475"/>
          <a:ext cx="6769100" cy="168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6" name="Формула" r:id="rId3" imgW="2146300" imgH="533400" progId="">
                  <p:embed/>
                </p:oleObj>
              </mc:Choice>
              <mc:Fallback>
                <p:oleObj name="Формула" r:id="rId3" imgW="2146300" imgH="53340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276475"/>
                        <a:ext cx="6769100" cy="168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strips dir="rd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214414" y="2274838"/>
            <a:ext cx="68580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Методы определения ставки дисконтирования</a:t>
            </a:r>
            <a:endParaRPr lang="ru-RU" dirty="0"/>
          </a:p>
        </p:txBody>
      </p:sp>
    </p:spTree>
  </p:cSld>
  <p:clrMapOvr>
    <a:masterClrMapping/>
  </p:clrMapOvr>
  <p:transition spd="med">
    <p:strips dir="rd"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44" y="428604"/>
            <a:ext cx="8153400" cy="1285884"/>
          </a:xfrm>
          <a:noFill/>
        </p:spPr>
        <p:txBody>
          <a:bodyPr/>
          <a:lstStyle/>
          <a:p>
            <a:pPr algn="ctr" eaLnBrk="1" hangingPunct="1"/>
            <a:r>
              <a:rPr lang="ru-RU" sz="3600" b="1" dirty="0" smtClean="0">
                <a:solidFill>
                  <a:srgbClr val="FF0000"/>
                </a:solidFill>
              </a:rPr>
              <a:t>Методы определения ставки дисконтирования</a:t>
            </a:r>
          </a:p>
        </p:txBody>
      </p:sp>
      <p:sp>
        <p:nvSpPr>
          <p:cNvPr id="62467" name="Rectangle 3"/>
          <p:cNvSpPr>
            <a:spLocks noChangeArrowheads="1"/>
          </p:cNvSpPr>
          <p:nvPr/>
        </p:nvSpPr>
        <p:spPr bwMode="auto">
          <a:xfrm>
            <a:off x="381000" y="1752600"/>
            <a:ext cx="8458200" cy="9461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 eaLnBrk="1" hangingPunct="1">
              <a:spcBef>
                <a:spcPct val="0"/>
              </a:spcBef>
              <a:buFontTx/>
              <a:buAutoNum type="arabicPeriod"/>
              <a:tabLst>
                <a:tab pos="266700" algn="l"/>
              </a:tabLst>
            </a:pPr>
            <a:r>
              <a:rPr lang="ru-RU" sz="2800" i="0">
                <a:solidFill>
                  <a:srgbClr val="0033CC"/>
                </a:solidFill>
              </a:rPr>
              <a:t>М</a:t>
            </a:r>
            <a:r>
              <a:rPr lang="en-GB" sz="2800" i="0">
                <a:solidFill>
                  <a:srgbClr val="0033CC"/>
                </a:solidFill>
              </a:rPr>
              <a:t>етод кумулятивного построения </a:t>
            </a:r>
            <a:endParaRPr lang="ru-RU" sz="2800" i="0">
              <a:solidFill>
                <a:srgbClr val="0033CC"/>
              </a:solidFill>
            </a:endParaRPr>
          </a:p>
          <a:p>
            <a:pPr marL="342900" indent="-342900" eaLnBrk="1" hangingPunct="1">
              <a:spcBef>
                <a:spcPct val="0"/>
              </a:spcBef>
              <a:tabLst>
                <a:tab pos="266700" algn="l"/>
              </a:tabLst>
            </a:pPr>
            <a:r>
              <a:rPr lang="ru-RU" sz="2800" i="0">
                <a:solidFill>
                  <a:srgbClr val="0033CC"/>
                </a:solidFill>
              </a:rPr>
              <a:t>   </a:t>
            </a:r>
            <a:r>
              <a:rPr lang="en-GB" sz="2800" i="0">
                <a:solidFill>
                  <a:srgbClr val="0033CC"/>
                </a:solidFill>
              </a:rPr>
              <a:t>(</a:t>
            </a:r>
            <a:r>
              <a:rPr lang="en-US" sz="2800" i="0">
                <a:solidFill>
                  <a:srgbClr val="0033CC"/>
                </a:solidFill>
              </a:rPr>
              <a:t>BUM</a:t>
            </a:r>
            <a:r>
              <a:rPr lang="en-GB" sz="2800" i="0">
                <a:solidFill>
                  <a:srgbClr val="0033CC"/>
                </a:solidFill>
              </a:rPr>
              <a:t> - </a:t>
            </a:r>
            <a:r>
              <a:rPr lang="en-US" sz="2800" i="0">
                <a:solidFill>
                  <a:srgbClr val="0033CC"/>
                </a:solidFill>
              </a:rPr>
              <a:t>build</a:t>
            </a:r>
            <a:r>
              <a:rPr lang="en-GB" sz="2800" i="0">
                <a:solidFill>
                  <a:srgbClr val="0033CC"/>
                </a:solidFill>
              </a:rPr>
              <a:t>-</a:t>
            </a:r>
            <a:r>
              <a:rPr lang="en-US" sz="2800" i="0">
                <a:solidFill>
                  <a:srgbClr val="0033CC"/>
                </a:solidFill>
              </a:rPr>
              <a:t>up method</a:t>
            </a:r>
            <a:r>
              <a:rPr lang="en-GB" sz="2800" i="0">
                <a:solidFill>
                  <a:srgbClr val="0033CC"/>
                </a:solidFill>
              </a:rPr>
              <a:t>);</a:t>
            </a:r>
          </a:p>
        </p:txBody>
      </p:sp>
      <p:sp>
        <p:nvSpPr>
          <p:cNvPr id="62468" name="Rectangle 4"/>
          <p:cNvSpPr>
            <a:spLocks noChangeArrowheads="1"/>
          </p:cNvSpPr>
          <p:nvPr/>
        </p:nvSpPr>
        <p:spPr bwMode="auto">
          <a:xfrm>
            <a:off x="381000" y="2971800"/>
            <a:ext cx="8458200" cy="9461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 eaLnBrk="1" hangingPunct="1">
              <a:spcBef>
                <a:spcPct val="0"/>
              </a:spcBef>
              <a:tabLst>
                <a:tab pos="266700" algn="l"/>
              </a:tabLst>
            </a:pPr>
            <a:r>
              <a:rPr lang="ru-RU" sz="2800" i="0">
                <a:solidFill>
                  <a:srgbClr val="0033CC"/>
                </a:solidFill>
              </a:rPr>
              <a:t>2. М</a:t>
            </a:r>
            <a:r>
              <a:rPr lang="en-GB" sz="2800" i="0">
                <a:solidFill>
                  <a:srgbClr val="0033CC"/>
                </a:solidFill>
              </a:rPr>
              <a:t>одель оценки капитальных активов (</a:t>
            </a:r>
            <a:r>
              <a:rPr lang="en-US" sz="2800" i="0">
                <a:solidFill>
                  <a:srgbClr val="0033CC"/>
                </a:solidFill>
              </a:rPr>
              <a:t>CAPM</a:t>
            </a:r>
            <a:r>
              <a:rPr lang="en-GB" sz="2800" i="0">
                <a:solidFill>
                  <a:srgbClr val="0033CC"/>
                </a:solidFill>
              </a:rPr>
              <a:t> – </a:t>
            </a:r>
            <a:r>
              <a:rPr lang="en-US" sz="2800" i="0">
                <a:solidFill>
                  <a:srgbClr val="0033CC"/>
                </a:solidFill>
              </a:rPr>
              <a:t>capital assets pricing model</a:t>
            </a:r>
            <a:r>
              <a:rPr lang="en-GB" sz="2800" i="0">
                <a:solidFill>
                  <a:srgbClr val="0033CC"/>
                </a:solidFill>
              </a:rPr>
              <a:t>);</a:t>
            </a:r>
            <a:endParaRPr lang="ru-RU" sz="2800" i="0">
              <a:solidFill>
                <a:srgbClr val="0033CC"/>
              </a:solidFill>
            </a:endParaRPr>
          </a:p>
        </p:txBody>
      </p:sp>
      <p:sp>
        <p:nvSpPr>
          <p:cNvPr id="62469" name="Rectangle 5"/>
          <p:cNvSpPr>
            <a:spLocks noChangeArrowheads="1"/>
          </p:cNvSpPr>
          <p:nvPr/>
        </p:nvSpPr>
        <p:spPr bwMode="auto">
          <a:xfrm>
            <a:off x="381000" y="4343400"/>
            <a:ext cx="8229600" cy="13731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 eaLnBrk="1" hangingPunct="1">
              <a:spcBef>
                <a:spcPct val="0"/>
              </a:spcBef>
              <a:tabLst>
                <a:tab pos="266700" algn="l"/>
              </a:tabLst>
            </a:pPr>
            <a:r>
              <a:rPr lang="ru-RU" sz="2800" i="0">
                <a:solidFill>
                  <a:srgbClr val="0033CC"/>
                </a:solidFill>
              </a:rPr>
              <a:t>3. М</a:t>
            </a:r>
            <a:r>
              <a:rPr lang="en-GB" sz="2800" i="0">
                <a:solidFill>
                  <a:srgbClr val="0033CC"/>
                </a:solidFill>
              </a:rPr>
              <a:t>одель средневзвешенной стоимости капитала (</a:t>
            </a:r>
            <a:r>
              <a:rPr lang="en-US" sz="2800" i="0">
                <a:solidFill>
                  <a:srgbClr val="0033CC"/>
                </a:solidFill>
              </a:rPr>
              <a:t>WACC</a:t>
            </a:r>
            <a:r>
              <a:rPr lang="en-GB" sz="2800" i="0">
                <a:solidFill>
                  <a:srgbClr val="0033CC"/>
                </a:solidFill>
              </a:rPr>
              <a:t> </a:t>
            </a:r>
            <a:r>
              <a:rPr lang="ru-RU" sz="2800" i="0">
                <a:solidFill>
                  <a:srgbClr val="0033CC"/>
                </a:solidFill>
              </a:rPr>
              <a:t>- </a:t>
            </a:r>
            <a:r>
              <a:rPr lang="en-US" sz="2800" i="0">
                <a:solidFill>
                  <a:srgbClr val="0033CC"/>
                </a:solidFill>
              </a:rPr>
              <a:t>Weighted average cost of capital</a:t>
            </a:r>
            <a:r>
              <a:rPr lang="en-GB" sz="2800" i="0">
                <a:solidFill>
                  <a:srgbClr val="0033CC"/>
                </a:solidFill>
              </a:rPr>
              <a:t>).</a:t>
            </a:r>
          </a:p>
        </p:txBody>
      </p:sp>
    </p:spTree>
  </p:cSld>
  <p:clrMapOvr>
    <a:masterClrMapping/>
  </p:clrMapOvr>
  <p:transition spd="med">
    <p:strips dir="rd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Text Box 2"/>
          <p:cNvSpPr txBox="1">
            <a:spLocks noChangeArrowheads="1"/>
          </p:cNvSpPr>
          <p:nvPr/>
        </p:nvSpPr>
        <p:spPr bwMode="auto">
          <a:xfrm>
            <a:off x="0" y="685800"/>
            <a:ext cx="9144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i="0">
                <a:solidFill>
                  <a:srgbClr val="FF3300"/>
                </a:solidFill>
              </a:rPr>
              <a:t>Метод кумулятивного построения</a:t>
            </a:r>
          </a:p>
        </p:txBody>
      </p:sp>
      <p:sp>
        <p:nvSpPr>
          <p:cNvPr id="13319" name="Rectangle 4"/>
          <p:cNvSpPr>
            <a:spLocks noChangeArrowheads="1"/>
          </p:cNvSpPr>
          <p:nvPr/>
        </p:nvSpPr>
        <p:spPr bwMode="auto">
          <a:xfrm>
            <a:off x="3976688" y="33099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ru-RU" sz="3200"/>
          </a:p>
        </p:txBody>
      </p:sp>
      <p:graphicFrame>
        <p:nvGraphicFramePr>
          <p:cNvPr id="13314" name="Object 5"/>
          <p:cNvGraphicFramePr>
            <a:graphicFrameLocks noChangeAspect="1"/>
          </p:cNvGraphicFramePr>
          <p:nvPr/>
        </p:nvGraphicFramePr>
        <p:xfrm>
          <a:off x="762000" y="3352800"/>
          <a:ext cx="88900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4" name="Формула" r:id="rId3" imgW="253800" imgH="241200" progId="Equation.3">
                  <p:embed/>
                </p:oleObj>
              </mc:Choice>
              <mc:Fallback>
                <p:oleObj name="Формула" r:id="rId3" imgW="253800" imgH="24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352800"/>
                        <a:ext cx="889000" cy="835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0" name="Text Box 7"/>
          <p:cNvSpPr txBox="1">
            <a:spLocks noChangeArrowheads="1"/>
          </p:cNvSpPr>
          <p:nvPr/>
        </p:nvSpPr>
        <p:spPr bwMode="auto">
          <a:xfrm>
            <a:off x="1981200" y="3425825"/>
            <a:ext cx="6781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 b="0" i="0">
                <a:solidFill>
                  <a:schemeClr val="tx2"/>
                </a:solidFill>
              </a:rPr>
              <a:t>- безрисковая ставка,</a:t>
            </a:r>
          </a:p>
        </p:txBody>
      </p:sp>
      <p:sp>
        <p:nvSpPr>
          <p:cNvPr id="13321" name="Text Box 8"/>
          <p:cNvSpPr txBox="1">
            <a:spLocks noChangeArrowheads="1"/>
          </p:cNvSpPr>
          <p:nvPr/>
        </p:nvSpPr>
        <p:spPr bwMode="auto">
          <a:xfrm>
            <a:off x="2590800" y="5378450"/>
            <a:ext cx="4648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 b="0" i="0">
                <a:solidFill>
                  <a:schemeClr val="tx2"/>
                </a:solidFill>
              </a:rPr>
              <a:t>- рисковая премия.</a:t>
            </a:r>
          </a:p>
        </p:txBody>
      </p:sp>
      <p:sp>
        <p:nvSpPr>
          <p:cNvPr id="13322" name="Rectangle 10"/>
          <p:cNvSpPr>
            <a:spLocks noChangeArrowheads="1"/>
          </p:cNvSpPr>
          <p:nvPr/>
        </p:nvSpPr>
        <p:spPr bwMode="auto">
          <a:xfrm>
            <a:off x="3386138" y="31146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ru-RU" sz="3200"/>
          </a:p>
        </p:txBody>
      </p:sp>
      <p:graphicFrame>
        <p:nvGraphicFramePr>
          <p:cNvPr id="13315" name="Object 9"/>
          <p:cNvGraphicFramePr>
            <a:graphicFrameLocks noChangeAspect="1"/>
          </p:cNvGraphicFramePr>
          <p:nvPr/>
        </p:nvGraphicFramePr>
        <p:xfrm>
          <a:off x="1219200" y="1603375"/>
          <a:ext cx="6019800" cy="159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5" r:id="rId5" imgW="1968500" imgH="520700" progId="Equation.3">
                  <p:embed/>
                </p:oleObj>
              </mc:Choice>
              <mc:Fallback>
                <p:oleObj r:id="rId5" imgW="1968500" imgH="5207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603375"/>
                        <a:ext cx="6019800" cy="159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12"/>
          <p:cNvGraphicFramePr>
            <a:graphicFrameLocks noChangeAspect="1"/>
          </p:cNvGraphicFramePr>
          <p:nvPr/>
        </p:nvGraphicFramePr>
        <p:xfrm>
          <a:off x="417513" y="4876800"/>
          <a:ext cx="2173287" cy="171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6" name="Формула" r:id="rId7" imgW="660240" imgH="520560" progId="Equation.3">
                  <p:embed/>
                </p:oleObj>
              </mc:Choice>
              <mc:Fallback>
                <p:oleObj name="Формула" r:id="rId7" imgW="660240" imgH="52056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513" y="4876800"/>
                        <a:ext cx="2173287" cy="171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13"/>
          <p:cNvGraphicFramePr>
            <a:graphicFrameLocks noChangeAspect="1"/>
          </p:cNvGraphicFramePr>
          <p:nvPr/>
        </p:nvGraphicFramePr>
        <p:xfrm>
          <a:off x="685800" y="4310063"/>
          <a:ext cx="1211263" cy="79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7" name="Формула" r:id="rId9" imgW="368280" imgH="241200" progId="Equation.3">
                  <p:embed/>
                </p:oleObj>
              </mc:Choice>
              <mc:Fallback>
                <p:oleObj name="Формула" r:id="rId9" imgW="368280" imgH="2412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310063"/>
                        <a:ext cx="1211263" cy="795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3" name="Text Box 14"/>
          <p:cNvSpPr txBox="1">
            <a:spLocks noChangeArrowheads="1"/>
          </p:cNvSpPr>
          <p:nvPr/>
        </p:nvSpPr>
        <p:spPr bwMode="auto">
          <a:xfrm>
            <a:off x="1905000" y="4343400"/>
            <a:ext cx="7467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0" i="0">
                <a:solidFill>
                  <a:schemeClr val="tx2"/>
                </a:solidFill>
              </a:rPr>
              <a:t>- </a:t>
            </a:r>
            <a:r>
              <a:rPr lang="ru-RU" sz="3200" b="0" i="0">
                <a:solidFill>
                  <a:schemeClr val="tx2"/>
                </a:solidFill>
              </a:rPr>
              <a:t>инфляционная составляющая,</a:t>
            </a:r>
          </a:p>
        </p:txBody>
      </p:sp>
    </p:spTree>
  </p:cSld>
  <p:clrMapOvr>
    <a:masterClrMapping/>
  </p:clrMapOvr>
  <p:transition spd="med">
    <p:strips dir="rd"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2"/>
          <p:cNvSpPr txBox="1">
            <a:spLocks noChangeArrowheads="1"/>
          </p:cNvSpPr>
          <p:nvPr/>
        </p:nvSpPr>
        <p:spPr bwMode="auto">
          <a:xfrm>
            <a:off x="0" y="685800"/>
            <a:ext cx="9144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i="0">
                <a:solidFill>
                  <a:srgbClr val="FF3300"/>
                </a:solidFill>
              </a:rPr>
              <a:t>Безрисковая ставка</a:t>
            </a:r>
          </a:p>
        </p:txBody>
      </p:sp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3976688" y="33099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ru-RU" sz="3200"/>
          </a:p>
        </p:txBody>
      </p:sp>
      <p:sp>
        <p:nvSpPr>
          <p:cNvPr id="63492" name="Rectangle 7"/>
          <p:cNvSpPr>
            <a:spLocks noChangeArrowheads="1"/>
          </p:cNvSpPr>
          <p:nvPr/>
        </p:nvSpPr>
        <p:spPr bwMode="auto">
          <a:xfrm>
            <a:off x="3386138" y="31146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ru-RU" sz="3200"/>
          </a:p>
        </p:txBody>
      </p:sp>
      <p:sp>
        <p:nvSpPr>
          <p:cNvPr id="141324" name="Rectangle 12"/>
          <p:cNvSpPr>
            <a:spLocks noChangeArrowheads="1"/>
          </p:cNvSpPr>
          <p:nvPr/>
        </p:nvSpPr>
        <p:spPr bwMode="auto">
          <a:xfrm>
            <a:off x="838200" y="1905000"/>
            <a:ext cx="8001000" cy="1066800"/>
          </a:xfrm>
          <a:prstGeom prst="rect">
            <a:avLst/>
          </a:prstGeom>
          <a:noFill/>
          <a:ln w="38100" cmpd="dbl">
            <a:solidFill>
              <a:srgbClr val="0000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ru-RU" sz="2800" i="0"/>
              <a:t>Доходность государственных ценных 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ru-RU" sz="2800" i="0"/>
              <a:t>бумаг</a:t>
            </a:r>
            <a:endParaRPr lang="ru-RU" sz="2800" b="0" i="0"/>
          </a:p>
        </p:txBody>
      </p:sp>
      <p:sp>
        <p:nvSpPr>
          <p:cNvPr id="141325" name="Rectangle 13"/>
          <p:cNvSpPr>
            <a:spLocks noChangeArrowheads="1"/>
          </p:cNvSpPr>
          <p:nvPr/>
        </p:nvSpPr>
        <p:spPr bwMode="auto">
          <a:xfrm>
            <a:off x="838200" y="3276600"/>
            <a:ext cx="8001000" cy="1752600"/>
          </a:xfrm>
          <a:prstGeom prst="rect">
            <a:avLst/>
          </a:prstGeom>
          <a:noFill/>
          <a:ln w="38100" cmpd="dbl">
            <a:solidFill>
              <a:srgbClr val="0000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ru-RU" sz="2800" i="0"/>
              <a:t>Ставка по депозитам в банках высокой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ru-RU" sz="2800" i="0"/>
              <a:t>группы надежности (Сбербанк РФ, 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ru-RU" sz="2800" i="0"/>
              <a:t>Внешторгбанк, Альфа-Банк, Банк Москвы)</a:t>
            </a:r>
          </a:p>
        </p:txBody>
      </p:sp>
      <p:sp>
        <p:nvSpPr>
          <p:cNvPr id="141326" name="Rectangle 14"/>
          <p:cNvSpPr>
            <a:spLocks noChangeArrowheads="1"/>
          </p:cNvSpPr>
          <p:nvPr/>
        </p:nvSpPr>
        <p:spPr bwMode="auto">
          <a:xfrm>
            <a:off x="838200" y="5334000"/>
            <a:ext cx="8001000" cy="1066800"/>
          </a:xfrm>
          <a:prstGeom prst="rect">
            <a:avLst/>
          </a:prstGeom>
          <a:noFill/>
          <a:ln w="38100" cmpd="dbl">
            <a:solidFill>
              <a:srgbClr val="0000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ru-RU" sz="2800" i="0"/>
              <a:t>Ставка рефинансирования </a:t>
            </a:r>
          </a:p>
        </p:txBody>
      </p:sp>
      <p:sp>
        <p:nvSpPr>
          <p:cNvPr id="141327" name="AutoShape 15"/>
          <p:cNvSpPr>
            <a:spLocks noChangeArrowheads="1"/>
          </p:cNvSpPr>
          <p:nvPr/>
        </p:nvSpPr>
        <p:spPr bwMode="auto">
          <a:xfrm>
            <a:off x="152400" y="2286000"/>
            <a:ext cx="609600" cy="457200"/>
          </a:xfrm>
          <a:prstGeom prst="rightArrow">
            <a:avLst>
              <a:gd name="adj1" fmla="val 50000"/>
              <a:gd name="adj2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 sz="3200"/>
          </a:p>
        </p:txBody>
      </p:sp>
      <p:sp>
        <p:nvSpPr>
          <p:cNvPr id="141328" name="AutoShape 16"/>
          <p:cNvSpPr>
            <a:spLocks noChangeArrowheads="1"/>
          </p:cNvSpPr>
          <p:nvPr/>
        </p:nvSpPr>
        <p:spPr bwMode="auto">
          <a:xfrm>
            <a:off x="152400" y="3810000"/>
            <a:ext cx="609600" cy="457200"/>
          </a:xfrm>
          <a:prstGeom prst="rightArrow">
            <a:avLst>
              <a:gd name="adj1" fmla="val 50000"/>
              <a:gd name="adj2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 sz="3200"/>
          </a:p>
        </p:txBody>
      </p:sp>
      <p:sp>
        <p:nvSpPr>
          <p:cNvPr id="141329" name="AutoShape 17"/>
          <p:cNvSpPr>
            <a:spLocks noChangeArrowheads="1"/>
          </p:cNvSpPr>
          <p:nvPr/>
        </p:nvSpPr>
        <p:spPr bwMode="auto">
          <a:xfrm>
            <a:off x="152400" y="5562600"/>
            <a:ext cx="609600" cy="457200"/>
          </a:xfrm>
          <a:prstGeom prst="rightArrow">
            <a:avLst>
              <a:gd name="adj1" fmla="val 50000"/>
              <a:gd name="adj2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 sz="3200"/>
          </a:p>
        </p:txBody>
      </p:sp>
      <p:sp>
        <p:nvSpPr>
          <p:cNvPr id="63499" name="Rectangle 1035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endParaRPr lang="en-US" smtClean="0"/>
          </a:p>
        </p:txBody>
      </p:sp>
    </p:spTree>
  </p:cSld>
  <p:clrMapOvr>
    <a:masterClrMapping/>
  </p:clrMapOvr>
  <p:transition spd="med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1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1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1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1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1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1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1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1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1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24" grpId="0" animBg="1" autoUpdateAnimBg="0"/>
      <p:bldP spid="141325" grpId="0" animBg="1" autoUpdateAnimBg="0"/>
      <p:bldP spid="141326" grpId="0" animBg="1" autoUpdateAnimBg="0"/>
      <p:bldP spid="141327" grpId="0" animBg="1"/>
      <p:bldP spid="141328" grpId="0" animBg="1"/>
      <p:bldP spid="14132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458200" cy="1371600"/>
          </a:xfrm>
        </p:spPr>
        <p:txBody>
          <a:bodyPr/>
          <a:lstStyle/>
          <a:p>
            <a:pPr algn="ctr"/>
            <a:r>
              <a:rPr lang="ru-RU" sz="4000" b="1" smtClean="0">
                <a:solidFill>
                  <a:srgbClr val="FF3300"/>
                </a:solidFill>
              </a:rPr>
              <a:t>Ставка рефинансирования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27468"/>
              </p:ext>
            </p:extLst>
          </p:nvPr>
        </p:nvGraphicFramePr>
        <p:xfrm>
          <a:off x="1403648" y="1052735"/>
          <a:ext cx="6135391" cy="52343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26741"/>
                <a:gridCol w="2508650"/>
              </a:tblGrid>
              <a:tr h="660007"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75"/>
                        </a:spcBef>
                        <a:spcAft>
                          <a:spcPts val="0"/>
                        </a:spcAft>
                      </a:pPr>
                      <a:r>
                        <a:rPr lang="ru-RU" sz="24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Период действия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75"/>
                        </a:spcBef>
                        <a:spcAft>
                          <a:spcPts val="0"/>
                        </a:spcAft>
                      </a:pPr>
                      <a:r>
                        <a:rPr lang="ru-RU" sz="2400" b="1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Значение, %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588506">
                <a:tc>
                  <a:txBody>
                    <a:bodyPr/>
                    <a:lstStyle/>
                    <a:p>
                      <a:pPr indent="0"/>
                      <a:r>
                        <a:rPr lang="ru-RU">
                          <a:effectLst/>
                        </a:rPr>
                        <a:t>30 октября 2023 г.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r"/>
                      <a:r>
                        <a:rPr lang="ru-RU">
                          <a:solidFill>
                            <a:srgbClr val="464C55"/>
                          </a:solidFill>
                          <a:effectLst/>
                        </a:rPr>
                        <a:t>15,00</a:t>
                      </a:r>
                    </a:p>
                  </a:txBody>
                  <a:tcPr/>
                </a:tc>
              </a:tr>
              <a:tr h="664300">
                <a:tc>
                  <a:txBody>
                    <a:bodyPr/>
                    <a:lstStyle/>
                    <a:p>
                      <a:pPr indent="0"/>
                      <a:r>
                        <a:rPr lang="ru-RU">
                          <a:effectLst/>
                        </a:rPr>
                        <a:t>18 сентября 2023 г. - 29 октября 2023 г.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r"/>
                      <a:r>
                        <a:rPr lang="ru-RU" dirty="0">
                          <a:solidFill>
                            <a:srgbClr val="464C55"/>
                          </a:solidFill>
                          <a:effectLst/>
                        </a:rPr>
                        <a:t>13,00</a:t>
                      </a:r>
                    </a:p>
                  </a:txBody>
                  <a:tcPr/>
                </a:tc>
              </a:tr>
              <a:tr h="664300">
                <a:tc>
                  <a:txBody>
                    <a:bodyPr/>
                    <a:lstStyle/>
                    <a:p>
                      <a:pPr indent="0"/>
                      <a:r>
                        <a:rPr lang="ru-RU">
                          <a:effectLst/>
                        </a:rPr>
                        <a:t>15 августа 2023 г. - 17 сентября 2023 г.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r"/>
                      <a:r>
                        <a:rPr lang="ru-RU">
                          <a:solidFill>
                            <a:srgbClr val="464C55"/>
                          </a:solidFill>
                          <a:effectLst/>
                        </a:rPr>
                        <a:t>12,00</a:t>
                      </a:r>
                    </a:p>
                  </a:txBody>
                  <a:tcPr/>
                </a:tc>
              </a:tr>
              <a:tr h="664300">
                <a:tc>
                  <a:txBody>
                    <a:bodyPr/>
                    <a:lstStyle/>
                    <a:p>
                      <a:pPr indent="0"/>
                      <a:r>
                        <a:rPr lang="ru-RU">
                          <a:effectLst/>
                        </a:rPr>
                        <a:t>24 июля 2023 г. - 14 августа 2023 г.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r"/>
                      <a:r>
                        <a:rPr lang="ru-RU">
                          <a:solidFill>
                            <a:srgbClr val="464C55"/>
                          </a:solidFill>
                          <a:effectLst/>
                        </a:rPr>
                        <a:t>8,50</a:t>
                      </a:r>
                    </a:p>
                  </a:txBody>
                  <a:tcPr/>
                </a:tc>
              </a:tr>
              <a:tr h="664300">
                <a:tc>
                  <a:txBody>
                    <a:bodyPr/>
                    <a:lstStyle/>
                    <a:p>
                      <a:pPr indent="0"/>
                      <a:r>
                        <a:rPr lang="ru-RU">
                          <a:effectLst/>
                        </a:rPr>
                        <a:t>19 сентября 2022 г. - 23 июля 2023 г.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r"/>
                      <a:r>
                        <a:rPr lang="ru-RU">
                          <a:solidFill>
                            <a:srgbClr val="464C55"/>
                          </a:solidFill>
                          <a:effectLst/>
                        </a:rPr>
                        <a:t>7,50</a:t>
                      </a:r>
                    </a:p>
                  </a:txBody>
                  <a:tcPr/>
                </a:tc>
              </a:tr>
              <a:tr h="664300">
                <a:tc>
                  <a:txBody>
                    <a:bodyPr/>
                    <a:lstStyle/>
                    <a:p>
                      <a:pPr indent="0"/>
                      <a:r>
                        <a:rPr lang="ru-RU">
                          <a:effectLst/>
                        </a:rPr>
                        <a:t>25 июля 2022 г. - 18 сентября 2022 г.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r"/>
                      <a:r>
                        <a:rPr lang="ru-RU">
                          <a:solidFill>
                            <a:srgbClr val="464C55"/>
                          </a:solidFill>
                          <a:effectLst/>
                        </a:rPr>
                        <a:t>8,00</a:t>
                      </a:r>
                    </a:p>
                  </a:txBody>
                  <a:tcPr/>
                </a:tc>
              </a:tr>
              <a:tr h="664300">
                <a:tc>
                  <a:txBody>
                    <a:bodyPr/>
                    <a:lstStyle/>
                    <a:p>
                      <a:pPr indent="0"/>
                      <a:r>
                        <a:rPr lang="ru-RU" dirty="0" smtClean="0">
                          <a:effectLst/>
                        </a:rPr>
                        <a:t>14 июня 2022 г. - 24 июля 2022 г.</a:t>
                      </a:r>
                      <a:endParaRPr lang="ru-RU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r"/>
                      <a:endParaRPr lang="ru-RU" dirty="0" smtClean="0">
                        <a:solidFill>
                          <a:srgbClr val="464C55"/>
                        </a:solidFill>
                        <a:effectLst/>
                      </a:endParaRPr>
                    </a:p>
                    <a:p>
                      <a:pPr indent="0" algn="r"/>
                      <a:r>
                        <a:rPr lang="ru-RU" dirty="0" smtClean="0">
                          <a:solidFill>
                            <a:srgbClr val="464C55"/>
                          </a:solidFill>
                          <a:effectLst/>
                        </a:rPr>
                        <a:t>9,50</a:t>
                      </a:r>
                      <a:endParaRPr lang="ru-RU" dirty="0">
                        <a:solidFill>
                          <a:srgbClr val="464C55"/>
                        </a:solidFill>
                        <a:effectLst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604963" y="292576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263457"/>
      </p:ext>
    </p:extLst>
  </p:cSld>
  <p:clrMapOvr>
    <a:masterClrMapping/>
  </p:clrMapOvr>
  <p:transition spd="med">
    <p:strips dir="rd"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1371600" y="806450"/>
            <a:ext cx="6477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i="0">
                <a:solidFill>
                  <a:srgbClr val="FF3300"/>
                </a:solidFill>
              </a:rPr>
              <a:t>Рисковая премия</a:t>
            </a:r>
          </a:p>
        </p:txBody>
      </p:sp>
      <p:sp>
        <p:nvSpPr>
          <p:cNvPr id="64515" name="Rectangle 3"/>
          <p:cNvSpPr>
            <a:spLocks noChangeArrowheads="1"/>
          </p:cNvSpPr>
          <p:nvPr/>
        </p:nvSpPr>
        <p:spPr bwMode="auto">
          <a:xfrm>
            <a:off x="3976688" y="33099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ru-RU" sz="3200"/>
          </a:p>
        </p:txBody>
      </p:sp>
      <p:sp>
        <p:nvSpPr>
          <p:cNvPr id="64516" name="Rectangle 4"/>
          <p:cNvSpPr>
            <a:spLocks noChangeArrowheads="1"/>
          </p:cNvSpPr>
          <p:nvPr/>
        </p:nvSpPr>
        <p:spPr bwMode="auto">
          <a:xfrm>
            <a:off x="3386138" y="31146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ru-RU" sz="3200"/>
          </a:p>
        </p:txBody>
      </p:sp>
      <p:sp>
        <p:nvSpPr>
          <p:cNvPr id="142347" name="Text Box 11"/>
          <p:cNvSpPr txBox="1">
            <a:spLocks noChangeArrowheads="1"/>
          </p:cNvSpPr>
          <p:nvPr/>
        </p:nvSpPr>
        <p:spPr bwMode="auto">
          <a:xfrm>
            <a:off x="304800" y="1905000"/>
            <a:ext cx="7696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q"/>
            </a:pPr>
            <a:r>
              <a:rPr lang="ru-RU" sz="3200" i="0"/>
              <a:t> страновой риск,</a:t>
            </a:r>
            <a:endParaRPr lang="ru-RU" sz="3200"/>
          </a:p>
        </p:txBody>
      </p:sp>
      <p:sp>
        <p:nvSpPr>
          <p:cNvPr id="142348" name="Text Box 12"/>
          <p:cNvSpPr txBox="1">
            <a:spLocks noChangeArrowheads="1"/>
          </p:cNvSpPr>
          <p:nvPr/>
        </p:nvSpPr>
        <p:spPr bwMode="auto">
          <a:xfrm>
            <a:off x="304800" y="3001963"/>
            <a:ext cx="88392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q"/>
            </a:pPr>
            <a:r>
              <a:rPr lang="ru-RU" sz="3200" i="0" dirty="0"/>
              <a:t> риск ненадежности участников проекта,</a:t>
            </a:r>
            <a:endParaRPr lang="ru-RU" sz="3200" dirty="0"/>
          </a:p>
        </p:txBody>
      </p:sp>
      <p:sp>
        <p:nvSpPr>
          <p:cNvPr id="142349" name="Text Box 13"/>
          <p:cNvSpPr txBox="1">
            <a:spLocks noChangeArrowheads="1"/>
          </p:cNvSpPr>
          <p:nvPr/>
        </p:nvSpPr>
        <p:spPr bwMode="auto">
          <a:xfrm>
            <a:off x="304800" y="4114800"/>
            <a:ext cx="84582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q"/>
            </a:pPr>
            <a:r>
              <a:rPr lang="ru-RU" sz="3200" i="0"/>
              <a:t> риск неполучения предусмотренных проектом доходов</a:t>
            </a:r>
            <a:endParaRPr lang="ru-RU" sz="3200"/>
          </a:p>
        </p:txBody>
      </p:sp>
      <p:sp>
        <p:nvSpPr>
          <p:cNvPr id="64520" name="Rectangle 103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endParaRPr lang="ru-RU" dirty="0" smtClean="0"/>
          </a:p>
        </p:txBody>
      </p:sp>
    </p:spTree>
  </p:cSld>
  <p:clrMapOvr>
    <a:masterClrMapping/>
  </p:clrMapOvr>
  <p:transition spd="med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2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2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2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47" grpId="0" autoUpdateAnimBg="0"/>
      <p:bldP spid="142348" grpId="0" autoUpdateAnimBg="0"/>
      <p:bldP spid="142349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838200"/>
          </a:xfrm>
        </p:spPr>
        <p:txBody>
          <a:bodyPr/>
          <a:lstStyle/>
          <a:p>
            <a:pPr algn="ctr" eaLnBrk="1" hangingPunct="1"/>
            <a:r>
              <a:rPr lang="ru-RU" sz="3600" b="1" smtClean="0">
                <a:solidFill>
                  <a:srgbClr val="FF3300"/>
                </a:solidFill>
              </a:rPr>
              <a:t>Оценка странового риска</a:t>
            </a:r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828800"/>
            <a:ext cx="9067800" cy="685800"/>
          </a:xfrm>
        </p:spPr>
        <p:txBody>
          <a:bodyPr/>
          <a:lstStyle/>
          <a:p>
            <a:pPr eaLnBrk="1" hangingPunct="1">
              <a:buClr>
                <a:srgbClr val="FF3300"/>
              </a:buClr>
              <a:buFont typeface="Wingdings" pitchFamily="2" charset="2"/>
              <a:buChar char="q"/>
            </a:pPr>
            <a:r>
              <a:rPr lang="ru-RU" b="1" smtClean="0">
                <a:solidFill>
                  <a:srgbClr val="0033CC"/>
                </a:solidFill>
              </a:rPr>
              <a:t> Ассоциация швейцарских банков,</a:t>
            </a:r>
            <a:endParaRPr lang="ru-RU" sz="2800" smtClean="0">
              <a:solidFill>
                <a:srgbClr val="0033CC"/>
              </a:solidFill>
            </a:endParaRPr>
          </a:p>
        </p:txBody>
      </p:sp>
      <p:sp>
        <p:nvSpPr>
          <p:cNvPr id="143364" name="Rectangle 4"/>
          <p:cNvSpPr>
            <a:spLocks noChangeArrowheads="1"/>
          </p:cNvSpPr>
          <p:nvPr/>
        </p:nvSpPr>
        <p:spPr bwMode="auto">
          <a:xfrm>
            <a:off x="228600" y="1219200"/>
            <a:ext cx="9067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rgbClr val="FF3300"/>
              </a:buClr>
              <a:buSzPct val="75000"/>
              <a:buFont typeface="Wingdings" pitchFamily="2" charset="2"/>
              <a:buChar char="q"/>
            </a:pPr>
            <a:r>
              <a:rPr lang="ru-RU" sz="3200" i="0">
                <a:solidFill>
                  <a:srgbClr val="0033CC"/>
                </a:solidFill>
              </a:rPr>
              <a:t> Рейтинговая компания </a:t>
            </a:r>
            <a:r>
              <a:rPr lang="en-US" sz="3200" i="0">
                <a:solidFill>
                  <a:srgbClr val="0033CC"/>
                </a:solidFill>
              </a:rPr>
              <a:t>BERI (</a:t>
            </a:r>
            <a:r>
              <a:rPr lang="ru-RU" sz="3200" i="0">
                <a:solidFill>
                  <a:srgbClr val="0033CC"/>
                </a:solidFill>
              </a:rPr>
              <a:t>Германия),</a:t>
            </a:r>
            <a:endParaRPr lang="ru-RU" sz="2800" b="0" i="0">
              <a:solidFill>
                <a:srgbClr val="0033CC"/>
              </a:solidFill>
            </a:endParaRPr>
          </a:p>
        </p:txBody>
      </p:sp>
      <p:sp>
        <p:nvSpPr>
          <p:cNvPr id="143365" name="Rectangle 5"/>
          <p:cNvSpPr>
            <a:spLocks noChangeArrowheads="1"/>
          </p:cNvSpPr>
          <p:nvPr/>
        </p:nvSpPr>
        <p:spPr bwMode="auto">
          <a:xfrm>
            <a:off x="228600" y="2514600"/>
            <a:ext cx="9067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rgbClr val="FF3300"/>
              </a:buClr>
              <a:buSzPct val="75000"/>
              <a:buFont typeface="Wingdings" pitchFamily="2" charset="2"/>
              <a:buChar char="q"/>
            </a:pPr>
            <a:r>
              <a:rPr lang="ru-RU" sz="3200" i="0">
                <a:solidFill>
                  <a:srgbClr val="0033CC"/>
                </a:solidFill>
              </a:rPr>
              <a:t> Аудиторская корпорация </a:t>
            </a:r>
            <a:r>
              <a:rPr lang="en-US" sz="3200" i="0">
                <a:solidFill>
                  <a:srgbClr val="0033CC"/>
                </a:solidFill>
              </a:rPr>
              <a:t>Ernst&amp;Young.</a:t>
            </a:r>
            <a:r>
              <a:rPr lang="ru-RU" sz="2800" i="0">
                <a:solidFill>
                  <a:srgbClr val="0033CC"/>
                </a:solidFill>
                <a:cs typeface="Times New Roman" pitchFamily="18" charset="0"/>
              </a:rPr>
              <a:t> </a:t>
            </a:r>
            <a:endParaRPr lang="ru-RU" sz="2800" b="0" i="0">
              <a:solidFill>
                <a:srgbClr val="0033CC"/>
              </a:solidFill>
            </a:endParaRPr>
          </a:p>
        </p:txBody>
      </p:sp>
      <p:sp>
        <p:nvSpPr>
          <p:cNvPr id="143366" name="Rectangle 6"/>
          <p:cNvSpPr>
            <a:spLocks noChangeArrowheads="1"/>
          </p:cNvSpPr>
          <p:nvPr/>
        </p:nvSpPr>
        <p:spPr bwMode="auto">
          <a:xfrm>
            <a:off x="228600" y="3124200"/>
            <a:ext cx="9067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rgbClr val="FF3300"/>
              </a:buClr>
              <a:buSzPct val="75000"/>
              <a:buFont typeface="Wingdings" pitchFamily="2" charset="2"/>
              <a:buChar char="q"/>
            </a:pPr>
            <a:r>
              <a:rPr lang="ru-RU" sz="3200" i="0">
                <a:solidFill>
                  <a:srgbClr val="0033CC"/>
                </a:solidFill>
              </a:rPr>
              <a:t> Методика агентства ЮНИВЕРС</a:t>
            </a:r>
            <a:r>
              <a:rPr lang="en-US" sz="3200" i="0">
                <a:solidFill>
                  <a:srgbClr val="0033CC"/>
                </a:solidFill>
              </a:rPr>
              <a:t>.</a:t>
            </a:r>
            <a:r>
              <a:rPr lang="ru-RU" sz="2800" i="0">
                <a:solidFill>
                  <a:srgbClr val="0033CC"/>
                </a:solidFill>
                <a:cs typeface="Times New Roman" pitchFamily="18" charset="0"/>
              </a:rPr>
              <a:t> </a:t>
            </a:r>
            <a:endParaRPr lang="ru-RU" sz="2800" b="0" i="0">
              <a:solidFill>
                <a:srgbClr val="0033CC"/>
              </a:solidFill>
            </a:endParaRP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304800" y="4038600"/>
            <a:ext cx="8534400" cy="2209800"/>
            <a:chOff x="192" y="2544"/>
            <a:chExt cx="5376" cy="1392"/>
          </a:xfrm>
        </p:grpSpPr>
        <p:sp>
          <p:nvSpPr>
            <p:cNvPr id="65544" name="Rectangle 12"/>
            <p:cNvSpPr>
              <a:spLocks noChangeArrowheads="1"/>
            </p:cNvSpPr>
            <p:nvPr/>
          </p:nvSpPr>
          <p:spPr bwMode="auto">
            <a:xfrm>
              <a:off x="192" y="2904"/>
              <a:ext cx="1776" cy="672"/>
            </a:xfrm>
            <a:prstGeom prst="rect">
              <a:avLst/>
            </a:prstGeom>
            <a:solidFill>
              <a:schemeClr val="bg1"/>
            </a:solidFill>
            <a:ln w="38100" cmpd="dbl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ru-RU" sz="2800" i="0"/>
                <a:t>СТРАНОВОЙ </a:t>
              </a:r>
            </a:p>
            <a:p>
              <a:pPr algn="ctr">
                <a:spcBef>
                  <a:spcPct val="0"/>
                </a:spcBef>
              </a:pPr>
              <a:r>
                <a:rPr lang="ru-RU" sz="2800" i="0"/>
                <a:t>РИСК</a:t>
              </a:r>
              <a:endParaRPr lang="ru-RU" sz="3200" i="0">
                <a:solidFill>
                  <a:srgbClr val="F93833"/>
                </a:solidFill>
              </a:endParaRPr>
            </a:p>
          </p:txBody>
        </p:sp>
        <p:grpSp>
          <p:nvGrpSpPr>
            <p:cNvPr id="65545" name="Group 16"/>
            <p:cNvGrpSpPr>
              <a:grpSpLocks/>
            </p:cNvGrpSpPr>
            <p:nvPr/>
          </p:nvGrpSpPr>
          <p:grpSpPr bwMode="auto">
            <a:xfrm>
              <a:off x="1980" y="2544"/>
              <a:ext cx="3588" cy="1392"/>
              <a:chOff x="1980" y="2544"/>
              <a:chExt cx="3588" cy="1392"/>
            </a:xfrm>
          </p:grpSpPr>
          <p:sp>
            <p:nvSpPr>
              <p:cNvPr id="65546" name="Rectangle 9"/>
              <p:cNvSpPr>
                <a:spLocks noChangeArrowheads="1"/>
              </p:cNvSpPr>
              <p:nvPr/>
            </p:nvSpPr>
            <p:spPr bwMode="auto">
              <a:xfrm>
                <a:off x="2448" y="2544"/>
                <a:ext cx="3120" cy="432"/>
              </a:xfrm>
              <a:prstGeom prst="rect">
                <a:avLst/>
              </a:prstGeom>
              <a:solidFill>
                <a:schemeClr val="bg1"/>
              </a:solidFill>
              <a:ln w="38100" cmpd="dbl">
                <a:solidFill>
                  <a:srgbClr val="0000CC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</a:pPr>
                <a:r>
                  <a:rPr lang="ru-RU" sz="2800" i="0"/>
                  <a:t>Социально-политический</a:t>
                </a:r>
                <a:endParaRPr lang="ru-RU" sz="3200" i="0">
                  <a:solidFill>
                    <a:srgbClr val="F93833"/>
                  </a:solidFill>
                </a:endParaRPr>
              </a:p>
            </p:txBody>
          </p:sp>
          <p:sp>
            <p:nvSpPr>
              <p:cNvPr id="65547" name="Rectangle 10"/>
              <p:cNvSpPr>
                <a:spLocks noChangeArrowheads="1"/>
              </p:cNvSpPr>
              <p:nvPr/>
            </p:nvSpPr>
            <p:spPr bwMode="auto">
              <a:xfrm>
                <a:off x="2448" y="3504"/>
                <a:ext cx="3120" cy="432"/>
              </a:xfrm>
              <a:prstGeom prst="rect">
                <a:avLst/>
              </a:prstGeom>
              <a:solidFill>
                <a:schemeClr val="bg1"/>
              </a:solidFill>
              <a:ln w="38100" cmpd="dbl">
                <a:solidFill>
                  <a:srgbClr val="0000CC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</a:pPr>
                <a:r>
                  <a:rPr lang="ru-RU" sz="2800" i="0"/>
                  <a:t>Внутриэкономический</a:t>
                </a:r>
                <a:endParaRPr lang="ru-RU" sz="3200" i="0">
                  <a:solidFill>
                    <a:srgbClr val="F93833"/>
                  </a:solidFill>
                </a:endParaRPr>
              </a:p>
            </p:txBody>
          </p:sp>
          <p:sp>
            <p:nvSpPr>
              <p:cNvPr id="65548" name="Rectangle 11"/>
              <p:cNvSpPr>
                <a:spLocks noChangeArrowheads="1"/>
              </p:cNvSpPr>
              <p:nvPr/>
            </p:nvSpPr>
            <p:spPr bwMode="auto">
              <a:xfrm>
                <a:off x="2448" y="3024"/>
                <a:ext cx="3120" cy="432"/>
              </a:xfrm>
              <a:prstGeom prst="rect">
                <a:avLst/>
              </a:prstGeom>
              <a:solidFill>
                <a:schemeClr val="bg1"/>
              </a:solidFill>
              <a:ln w="38100" cmpd="dbl">
                <a:solidFill>
                  <a:srgbClr val="0000CC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</a:pPr>
                <a:r>
                  <a:rPr lang="ru-RU" sz="2800" i="0"/>
                  <a:t>Внешнеэкономический</a:t>
                </a:r>
                <a:endParaRPr lang="ru-RU" sz="3200" i="0">
                  <a:solidFill>
                    <a:srgbClr val="F93833"/>
                  </a:solidFill>
                </a:endParaRPr>
              </a:p>
            </p:txBody>
          </p:sp>
          <p:cxnSp>
            <p:nvCxnSpPr>
              <p:cNvPr id="65549" name="AutoShape 13"/>
              <p:cNvCxnSpPr>
                <a:cxnSpLocks noChangeShapeType="1"/>
                <a:stCxn id="65544" idx="3"/>
                <a:endCxn id="65546" idx="1"/>
              </p:cNvCxnSpPr>
              <p:nvPr/>
            </p:nvCxnSpPr>
            <p:spPr bwMode="auto">
              <a:xfrm flipV="1">
                <a:off x="1980" y="2760"/>
                <a:ext cx="456" cy="480"/>
              </a:xfrm>
              <a:prstGeom prst="bentConnector3">
                <a:avLst>
                  <a:gd name="adj1" fmla="val 50000"/>
                </a:avLst>
              </a:prstGeom>
              <a:noFill/>
              <a:ln w="19050">
                <a:solidFill>
                  <a:srgbClr val="FF3300"/>
                </a:solidFill>
                <a:miter lim="800000"/>
                <a:headEnd/>
                <a:tailEnd type="triangle" w="med" len="med"/>
              </a:ln>
            </p:spPr>
          </p:cxnSp>
          <p:cxnSp>
            <p:nvCxnSpPr>
              <p:cNvPr id="65550" name="AutoShape 14"/>
              <p:cNvCxnSpPr>
                <a:cxnSpLocks noChangeShapeType="1"/>
                <a:stCxn id="65544" idx="3"/>
                <a:endCxn id="65548" idx="1"/>
              </p:cNvCxnSpPr>
              <p:nvPr/>
            </p:nvCxnSpPr>
            <p:spPr bwMode="auto">
              <a:xfrm>
                <a:off x="1980" y="3240"/>
                <a:ext cx="456" cy="0"/>
              </a:xfrm>
              <a:prstGeom prst="straightConnector1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65551" name="AutoShape 15"/>
              <p:cNvCxnSpPr>
                <a:cxnSpLocks noChangeShapeType="1"/>
                <a:stCxn id="65544" idx="3"/>
                <a:endCxn id="65547" idx="1"/>
              </p:cNvCxnSpPr>
              <p:nvPr/>
            </p:nvCxnSpPr>
            <p:spPr bwMode="auto">
              <a:xfrm>
                <a:off x="1980" y="3240"/>
                <a:ext cx="456" cy="480"/>
              </a:xfrm>
              <a:prstGeom prst="bentConnector3">
                <a:avLst>
                  <a:gd name="adj1" fmla="val 50000"/>
                </a:avLst>
              </a:prstGeom>
              <a:noFill/>
              <a:ln w="19050">
                <a:solidFill>
                  <a:srgbClr val="FF3300"/>
                </a:solidFill>
                <a:miter lim="800000"/>
                <a:headEnd/>
                <a:tailEnd type="triangle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2140341950"/>
      </p:ext>
    </p:extLst>
  </p:cSld>
  <p:clrMapOvr>
    <a:masterClrMapping/>
  </p:clrMapOvr>
  <p:transition spd="med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3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3" grpId="0" build="p" autoUpdateAnimBg="0"/>
      <p:bldP spid="143364" grpId="0" autoUpdateAnimBg="0"/>
      <p:bldP spid="143365" grpId="0" autoUpdateAnimBg="0"/>
      <p:bldP spid="143366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9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388" y="1504950"/>
            <a:ext cx="9039225" cy="527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6563" name="Text Box 92"/>
          <p:cNvSpPr txBox="1">
            <a:spLocks noChangeArrowheads="1"/>
          </p:cNvSpPr>
          <p:nvPr/>
        </p:nvSpPr>
        <p:spPr bwMode="auto">
          <a:xfrm>
            <a:off x="228600" y="333375"/>
            <a:ext cx="883920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i="0">
                <a:solidFill>
                  <a:srgbClr val="FF3300"/>
                </a:solidFill>
              </a:rPr>
              <a:t>Оценка социально-политического риска в России</a:t>
            </a:r>
          </a:p>
        </p:txBody>
      </p:sp>
    </p:spTree>
    <p:extLst>
      <p:ext uri="{BB962C8B-B14F-4D97-AF65-F5344CB8AC3E}">
        <p14:creationId xmlns:p14="http://schemas.microsoft.com/office/powerpoint/2010/main" val="2768273064"/>
      </p:ext>
    </p:extLst>
  </p:cSld>
  <p:clrMapOvr>
    <a:masterClrMapping/>
  </p:clrMapOvr>
  <p:transition spd="med">
    <p:strips dir="rd"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775" y="762000"/>
            <a:ext cx="9039225" cy="479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1524000" y="5181600"/>
            <a:ext cx="7620000" cy="1417638"/>
            <a:chOff x="960" y="3264"/>
            <a:chExt cx="4800" cy="893"/>
          </a:xfrm>
        </p:grpSpPr>
        <p:sp>
          <p:nvSpPr>
            <p:cNvPr id="67588" name="Text Box 5"/>
            <p:cNvSpPr txBox="1">
              <a:spLocks noChangeArrowheads="1"/>
            </p:cNvSpPr>
            <p:nvPr/>
          </p:nvSpPr>
          <p:spPr bwMode="auto">
            <a:xfrm>
              <a:off x="960" y="3792"/>
              <a:ext cx="2112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ru-RU" sz="3200"/>
                <a:t>Средний риск</a:t>
              </a:r>
            </a:p>
          </p:txBody>
        </p:sp>
        <p:grpSp>
          <p:nvGrpSpPr>
            <p:cNvPr id="67589" name="Group 8"/>
            <p:cNvGrpSpPr>
              <a:grpSpLocks/>
            </p:cNvGrpSpPr>
            <p:nvPr/>
          </p:nvGrpSpPr>
          <p:grpSpPr bwMode="auto">
            <a:xfrm>
              <a:off x="2928" y="3264"/>
              <a:ext cx="2832" cy="768"/>
              <a:chOff x="2928" y="3264"/>
              <a:chExt cx="2832" cy="768"/>
            </a:xfrm>
          </p:grpSpPr>
          <p:sp>
            <p:nvSpPr>
              <p:cNvPr id="67590" name="Line 6"/>
              <p:cNvSpPr>
                <a:spLocks noChangeShapeType="1"/>
              </p:cNvSpPr>
              <p:nvPr/>
            </p:nvSpPr>
            <p:spPr bwMode="auto">
              <a:xfrm flipV="1">
                <a:off x="2928" y="3456"/>
                <a:ext cx="2016" cy="576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 type="triangle" w="med" len="med"/>
              </a:ln>
            </p:spPr>
            <p:txBody>
              <a:bodyPr>
                <a:spAutoFit/>
              </a:bodyPr>
              <a:lstStyle/>
              <a:p>
                <a:endParaRPr lang="ru-RU"/>
              </a:p>
            </p:txBody>
          </p:sp>
          <p:sp>
            <p:nvSpPr>
              <p:cNvPr id="67591" name="Oval 7"/>
              <p:cNvSpPr>
                <a:spLocks noChangeArrowheads="1"/>
              </p:cNvSpPr>
              <p:nvPr/>
            </p:nvSpPr>
            <p:spPr bwMode="auto">
              <a:xfrm>
                <a:off x="4992" y="3264"/>
                <a:ext cx="768" cy="288"/>
              </a:xfrm>
              <a:prstGeom prst="ellips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ru-RU" sz="32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89965716"/>
      </p:ext>
    </p:extLst>
  </p:cSld>
  <p:clrMapOvr>
    <a:masterClrMapping/>
  </p:clrMapOvr>
  <p:transition spd="med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b="1" smtClean="0">
                <a:solidFill>
                  <a:srgbClr val="FF3300"/>
                </a:solidFill>
              </a:rPr>
              <a:t>Оценка уровня риска</a:t>
            </a:r>
          </a:p>
        </p:txBody>
      </p:sp>
      <p:graphicFrame>
        <p:nvGraphicFramePr>
          <p:cNvPr id="150800" name="Group 272"/>
          <p:cNvGraphicFramePr>
            <a:graphicFrameLocks noGrp="1"/>
          </p:cNvGraphicFramePr>
          <p:nvPr/>
        </p:nvGraphicFramePr>
        <p:xfrm>
          <a:off x="914400" y="2057400"/>
          <a:ext cx="7239000" cy="3482087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882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Средний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балл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Уровень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риска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731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1 - 4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Низкий риск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4 - 7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Средний риск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731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7 - 10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charset="0"/>
                        </a:rPr>
                        <a:t>Высокий риск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1050320"/>
      </p:ext>
    </p:extLst>
  </p:cSld>
  <p:clrMapOvr>
    <a:masterClrMapping/>
  </p:clrMapOvr>
  <p:transition spd="med">
    <p:strips dir="rd"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000" dirty="0"/>
              <a:t>С</a:t>
            </a:r>
            <a:r>
              <a:rPr lang="ru-RU" sz="2000" dirty="0" smtClean="0"/>
              <a:t>оздание  </a:t>
            </a:r>
            <a:r>
              <a:rPr lang="ru-RU" sz="2000" dirty="0"/>
              <a:t>системы информационной безопасности (СИБ) организации требует инвестиций в размере 100тыс. </a:t>
            </a:r>
            <a:r>
              <a:rPr lang="ru-RU" sz="2000" dirty="0" err="1"/>
              <a:t>ден</a:t>
            </a:r>
            <a:r>
              <a:rPr lang="ru-RU" sz="2000" dirty="0"/>
              <a:t>. ед., текущие затраты, связанные с процессом эксплуатации, составляют 60 тыс. </a:t>
            </a:r>
            <a:r>
              <a:rPr lang="ru-RU" sz="2000" dirty="0" err="1"/>
              <a:t>ден.ед</a:t>
            </a:r>
            <a:r>
              <a:rPr lang="ru-RU" sz="2000" dirty="0"/>
              <a:t>. ежегодно, в том числе амортизационные отчисления - 20 </a:t>
            </a:r>
            <a:r>
              <a:rPr lang="ru-RU" sz="2000" dirty="0" err="1"/>
              <a:t>тыс.ден.ед</a:t>
            </a:r>
            <a:r>
              <a:rPr lang="ru-RU" sz="2000" dirty="0"/>
              <a:t>. Использование СИБ позволит организации обеспечить ежегодные дополнительные доходы в размере 90 </a:t>
            </a:r>
            <a:r>
              <a:rPr lang="ru-RU" sz="2000" dirty="0" err="1"/>
              <a:t>тыс.ден.ед</a:t>
            </a:r>
            <a:r>
              <a:rPr lang="ru-RU" sz="2000" dirty="0"/>
              <a:t>. </a:t>
            </a:r>
          </a:p>
          <a:p>
            <a:r>
              <a:rPr lang="ru-RU" sz="2000" dirty="0"/>
              <a:t>Требуется оценить экономическую эффективность  принятия к реализации проекта  СИБ с использованием динамического подхода.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7415146"/>
      </p:ext>
    </p:extLst>
  </p:cSld>
  <p:clrMapOvr>
    <a:masterClrMapping/>
  </p:clrMapOvr>
  <p:transition spd="med">
    <p:strips dir="rd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2400" b="1" dirty="0"/>
              <a:t>Счет прибылей и убытков, </a:t>
            </a:r>
            <a:r>
              <a:rPr lang="ru-RU" sz="2400" b="1" dirty="0" err="1"/>
              <a:t>тыс.ден.ед</a:t>
            </a:r>
            <a:r>
              <a:rPr lang="ru-RU" sz="2400" b="1" dirty="0"/>
              <a:t>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841871"/>
            <a:ext cx="7272807" cy="3747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341369"/>
      </p:ext>
    </p:extLst>
  </p:cSld>
  <p:clrMapOvr>
    <a:masterClrMapping/>
  </p:clrMapOvr>
  <p:transition spd="med">
    <p:strips dir="rd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/>
              <a:t>Расчет налога на имущество, </a:t>
            </a:r>
            <a:r>
              <a:rPr lang="ru-RU" sz="2800" b="1" dirty="0" err="1"/>
              <a:t>тыс.ден.ед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176525"/>
            <a:ext cx="7200799" cy="3556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065215"/>
      </p:ext>
    </p:extLst>
  </p:cSld>
  <p:clrMapOvr>
    <a:masterClrMapping/>
  </p:clrMapOvr>
  <p:transition spd="med">
    <p:strips dir="rd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/>
              <a:t>Расчет налога на имущество, </a:t>
            </a:r>
            <a:r>
              <a:rPr lang="ru-RU" sz="2800" b="1" dirty="0" err="1"/>
              <a:t>тыс.ден.ед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>
            <p:extLst/>
          </p:nvPr>
        </p:nvGraphicFramePr>
        <p:xfrm>
          <a:off x="611560" y="2176463"/>
          <a:ext cx="7776864" cy="34127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257" name="Документ" r:id="rId4" imgW="5774853" imgH="2503143" progId="Word.Document.12">
                  <p:embed/>
                </p:oleObj>
              </mc:Choice>
              <mc:Fallback>
                <p:oleObj name="Документ" r:id="rId4" imgW="5774853" imgH="25031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1560" y="2176463"/>
                        <a:ext cx="7776864" cy="34127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05570307"/>
      </p:ext>
    </p:extLst>
  </p:cSld>
  <p:clrMapOvr>
    <a:masterClrMapping/>
  </p:clrMapOvr>
  <p:transition spd="med">
    <p:strips dir="rd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2800" b="1" dirty="0"/>
              <a:t>Счет прибылей и убытков, </a:t>
            </a:r>
            <a:r>
              <a:rPr lang="ru-RU" sz="2800" b="1" dirty="0" err="1"/>
              <a:t>тыс.ден.ед</a:t>
            </a:r>
            <a:r>
              <a:rPr lang="ru-RU" sz="2800" b="1" dirty="0"/>
              <a:t>.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6" name="Объект 5"/>
          <p:cNvGraphicFramePr>
            <a:graphicFrameLocks noChangeAspect="1"/>
          </p:cNvGraphicFramePr>
          <p:nvPr>
            <p:extLst/>
          </p:nvPr>
        </p:nvGraphicFramePr>
        <p:xfrm>
          <a:off x="971600" y="1843088"/>
          <a:ext cx="7272808" cy="3818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281" name="Документ" r:id="rId4" imgW="5774853" imgH="3171752" progId="Word.Document.12">
                  <p:embed/>
                </p:oleObj>
              </mc:Choice>
              <mc:Fallback>
                <p:oleObj name="Документ" r:id="rId4" imgW="5774853" imgH="317175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71600" y="1843088"/>
                        <a:ext cx="7272808" cy="38181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3836339"/>
      </p:ext>
    </p:extLst>
  </p:cSld>
  <p:clrMapOvr>
    <a:masterClrMapping/>
  </p:clrMapOvr>
  <p:transition spd="med">
    <p:strips dir="rd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2000" b="1" dirty="0" smtClean="0"/>
              <a:t>Счет прибылей и убытков, </a:t>
            </a:r>
            <a:r>
              <a:rPr lang="ru-RU" sz="2000" b="1" dirty="0" err="1" smtClean="0"/>
              <a:t>тыс.ден.ед</a:t>
            </a:r>
            <a:r>
              <a:rPr lang="ru-RU" sz="2000" b="1" dirty="0" smtClean="0"/>
              <a:t>.</a:t>
            </a:r>
            <a:endParaRPr lang="ru-RU" sz="2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/>
          </p:nvPr>
        </p:nvGraphicFramePr>
        <p:xfrm>
          <a:off x="755576" y="1628800"/>
          <a:ext cx="7416824" cy="3960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305" name="Документ" r:id="rId4" imgW="5774853" imgH="3171752" progId="Word.Document.12">
                  <p:embed/>
                </p:oleObj>
              </mc:Choice>
              <mc:Fallback>
                <p:oleObj name="Документ" r:id="rId4" imgW="5774853" imgH="317175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55576" y="1628800"/>
                        <a:ext cx="7416824" cy="3960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75826101"/>
      </p:ext>
    </p:extLst>
  </p:cSld>
  <p:clrMapOvr>
    <a:masterClrMapping/>
  </p:clrMapOvr>
  <p:transition spd="med">
    <p:strips dir="rd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 smtClean="0"/>
              <a:t/>
            </a:r>
            <a:br>
              <a:rPr lang="ru-RU" sz="2800" dirty="0" smtClean="0"/>
            </a:br>
            <a:r>
              <a:rPr lang="ru-RU" sz="2800" dirty="0"/>
              <a:t/>
            </a:r>
            <a:br>
              <a:rPr lang="ru-RU" sz="2800" dirty="0"/>
            </a:br>
            <a:r>
              <a:rPr lang="ru-RU" sz="2800" dirty="0" smtClean="0"/>
              <a:t>Эффективность </a:t>
            </a:r>
            <a:r>
              <a:rPr lang="ru-RU" sz="2800" dirty="0"/>
              <a:t>инвестиционного проекта на основе чистой текущей стоимости, </a:t>
            </a:r>
            <a:r>
              <a:rPr lang="ru-RU" sz="2800" dirty="0" err="1"/>
              <a:t>тыс.ден</a:t>
            </a:r>
            <a:r>
              <a:rPr lang="ru-RU" sz="2800" dirty="0"/>
              <a:t>. ед.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 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>
            <p:extLst/>
          </p:nvPr>
        </p:nvGraphicFramePr>
        <p:xfrm>
          <a:off x="323528" y="1412776"/>
          <a:ext cx="8280920" cy="539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29" name="Документ" r:id="rId4" imgW="5774853" imgH="6758055" progId="Word.Document.12">
                  <p:embed/>
                </p:oleObj>
              </mc:Choice>
              <mc:Fallback>
                <p:oleObj name="Документ" r:id="rId4" imgW="5774853" imgH="675805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3528" y="1412776"/>
                        <a:ext cx="8280920" cy="5396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3192274"/>
      </p:ext>
    </p:extLst>
  </p:cSld>
  <p:clrMapOvr>
    <a:masterClrMapping/>
  </p:clrMapOvr>
  <p:transition spd="med">
    <p:strips dir="rd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457200"/>
            <a:ext cx="8229600" cy="3763888"/>
          </a:xfrm>
        </p:spPr>
        <p:txBody>
          <a:bodyPr/>
          <a:lstStyle/>
          <a:p>
            <a:pPr algn="ctr" eaLnBrk="1" hangingPunct="1"/>
            <a:endParaRPr lang="ru-RU" sz="3600" dirty="0" smtClean="0">
              <a:solidFill>
                <a:srgbClr val="FF0000"/>
              </a:solidFill>
            </a:endParaRPr>
          </a:p>
        </p:txBody>
      </p:sp>
      <p:sp>
        <p:nvSpPr>
          <p:cNvPr id="12292" name="Rectangle 3"/>
          <p:cNvSpPr>
            <a:spLocks noChangeArrowheads="1"/>
          </p:cNvSpPr>
          <p:nvPr/>
        </p:nvSpPr>
        <p:spPr bwMode="auto">
          <a:xfrm>
            <a:off x="0" y="31194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sz="3200"/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0" y="3162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sz="3200"/>
          </a:p>
        </p:txBody>
      </p:sp>
      <p:graphicFrame>
        <p:nvGraphicFramePr>
          <p:cNvPr id="122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2382923"/>
              </p:ext>
            </p:extLst>
          </p:nvPr>
        </p:nvGraphicFramePr>
        <p:xfrm>
          <a:off x="1187450" y="4391442"/>
          <a:ext cx="6769100" cy="168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53" name="Формула" r:id="rId3" imgW="2146300" imgH="533400" progId="">
                  <p:embed/>
                </p:oleObj>
              </mc:Choice>
              <mc:Fallback>
                <p:oleObj name="Формула" r:id="rId3" imgW="2146300" imgH="5334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391442"/>
                        <a:ext cx="6769100" cy="168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9126761"/>
      </p:ext>
    </p:extLst>
  </p:cSld>
  <p:clrMapOvr>
    <a:masterClrMapping/>
  </p:clrMapOvr>
  <p:transition spd="med">
    <p:strips dir="rd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Пиксел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ru-RU" sz="3200" b="1" i="1" u="none" strike="noStrike" cap="none" normalizeH="0" baseline="0" smtClean="0">
            <a:ln>
              <a:noFill/>
            </a:ln>
            <a:solidFill>
              <a:srgbClr val="0000CC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ru-RU" sz="3200" b="1" i="1" u="none" strike="noStrike" cap="none" normalizeH="0" baseline="0" smtClean="0">
            <a:ln>
              <a:noFill/>
            </a:ln>
            <a:solidFill>
              <a:srgbClr val="0000CC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6666</TotalTime>
  <Words>1337</Words>
  <Application>Microsoft Office PowerPoint</Application>
  <PresentationFormat>Экран (4:3)</PresentationFormat>
  <Paragraphs>265</Paragraphs>
  <Slides>61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4</vt:i4>
      </vt:variant>
      <vt:variant>
        <vt:lpstr>Заголовки слайдов</vt:lpstr>
      </vt:variant>
      <vt:variant>
        <vt:i4>61</vt:i4>
      </vt:variant>
    </vt:vector>
  </HeadingPairs>
  <TitlesOfParts>
    <vt:vector size="72" baseType="lpstr">
      <vt:lpstr>宋体</vt:lpstr>
      <vt:lpstr>Arial</vt:lpstr>
      <vt:lpstr>Arial Black</vt:lpstr>
      <vt:lpstr>Calibri</vt:lpstr>
      <vt:lpstr>Times New Roman</vt:lpstr>
      <vt:lpstr>Wingdings</vt:lpstr>
      <vt:lpstr>Пиксел</vt:lpstr>
      <vt:lpstr>Формула</vt:lpstr>
      <vt:lpstr>Visio.Drawing.11</vt:lpstr>
      <vt:lpstr>Equation.3</vt:lpstr>
      <vt:lpstr>Документ</vt:lpstr>
      <vt:lpstr> Оценка экономической эффективности инвестиционных проектов</vt:lpstr>
      <vt:lpstr>Презентация PowerPoint</vt:lpstr>
      <vt:lpstr>Презентация PowerPoint</vt:lpstr>
      <vt:lpstr>Презентация PowerPoint</vt:lpstr>
      <vt:lpstr>Презентация PowerPoint</vt:lpstr>
      <vt:lpstr>Методические рекомендации по оценке инвестиционных проектов и расчету экономического эффекта  ОАО «Связьинвест»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Статические методы</vt:lpstr>
      <vt:lpstr>Простой срок окупаемости (PBP)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Метод средней нормы прибыли на инвестиции (ARR)</vt:lpstr>
      <vt:lpstr>Презентация PowerPoint</vt:lpstr>
      <vt:lpstr>Презентация PowerPoint</vt:lpstr>
      <vt:lpstr>Метод анализа точки безубыточности (BEP)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Индекс доходности  (PI - Profitability Index) </vt:lpstr>
      <vt:lpstr>Внутренняя норма доходности  (IRR -  Internal Rate of Return) </vt:lpstr>
      <vt:lpstr>Графическая интерпретация IRR </vt:lpstr>
      <vt:lpstr>Расчетная формула </vt:lpstr>
      <vt:lpstr>Динамический срок окупаемости (DPBP - discounted payback period) </vt:lpstr>
      <vt:lpstr>Расчетная формула DPBP  </vt:lpstr>
      <vt:lpstr>Презентация PowerPoint</vt:lpstr>
      <vt:lpstr>Методы определения ставки дисконтирования</vt:lpstr>
      <vt:lpstr>Презентация PowerPoint</vt:lpstr>
      <vt:lpstr>Презентация PowerPoint</vt:lpstr>
      <vt:lpstr>Ставка рефинансирования</vt:lpstr>
      <vt:lpstr>Презентация PowerPoint</vt:lpstr>
      <vt:lpstr>Оценка странового риска</vt:lpstr>
      <vt:lpstr>Презентация PowerPoint</vt:lpstr>
      <vt:lpstr>Презентация PowerPoint</vt:lpstr>
      <vt:lpstr>Оценка уровня риска</vt:lpstr>
      <vt:lpstr>Презентация PowerPoint</vt:lpstr>
      <vt:lpstr>Счет прибылей и убытков, тыс.ден.ед.</vt:lpstr>
      <vt:lpstr>Расчет налога на имущество, тыс.ден.ед</vt:lpstr>
      <vt:lpstr>Расчет налога на имущество, тыс.ден.ед</vt:lpstr>
      <vt:lpstr>Счет прибылей и убытков, тыс.ден.ед.</vt:lpstr>
      <vt:lpstr>Счет прибылей и убытков, тыс.ден.ед.</vt:lpstr>
      <vt:lpstr>  Эффективность инвестиционного проекта на основе чистой текущей стоимости, тыс.ден. ед.   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ЭиМ</cp:lastModifiedBy>
  <cp:revision>576</cp:revision>
  <dcterms:created xsi:type="dcterms:W3CDTF">2007-05-26T13:27:19Z</dcterms:created>
  <dcterms:modified xsi:type="dcterms:W3CDTF">2026-04-28T07:37:49Z</dcterms:modified>
</cp:coreProperties>
</file>